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6" r:id="rId3"/>
    <p:sldId id="285" r:id="rId4"/>
    <p:sldId id="257" r:id="rId5"/>
    <p:sldId id="258" r:id="rId6"/>
    <p:sldId id="259" r:id="rId7"/>
    <p:sldId id="260" r:id="rId8"/>
    <p:sldId id="261" r:id="rId9"/>
    <p:sldId id="264" r:id="rId10"/>
    <p:sldId id="265" r:id="rId11"/>
    <p:sldId id="281" r:id="rId12"/>
    <p:sldId id="283" r:id="rId13"/>
    <p:sldId id="277" r:id="rId14"/>
    <p:sldId id="280" r:id="rId15"/>
    <p:sldId id="282" r:id="rId16"/>
    <p:sldId id="284"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 HG" userId="c6bb83dbfd8fee88" providerId="LiveId" clId="{56D7BA9E-D0C5-45A7-8AE7-6D1A3111A67D}"/>
    <pc:docChg chg="modSld">
      <pc:chgData name="TEJAS HG" userId="c6bb83dbfd8fee88" providerId="LiveId" clId="{56D7BA9E-D0C5-45A7-8AE7-6D1A3111A67D}" dt="2025-12-23T07:20:05.755" v="107" actId="20577"/>
      <pc:docMkLst>
        <pc:docMk/>
      </pc:docMkLst>
      <pc:sldChg chg="modSp mod">
        <pc:chgData name="TEJAS HG" userId="c6bb83dbfd8fee88" providerId="LiveId" clId="{56D7BA9E-D0C5-45A7-8AE7-6D1A3111A67D}" dt="2025-12-23T07:20:05.755" v="107" actId="20577"/>
        <pc:sldMkLst>
          <pc:docMk/>
          <pc:sldMk cId="3979369397" sldId="256"/>
        </pc:sldMkLst>
        <pc:spChg chg="mod">
          <ac:chgData name="TEJAS HG" userId="c6bb83dbfd8fee88" providerId="LiveId" clId="{56D7BA9E-D0C5-45A7-8AE7-6D1A3111A67D}" dt="2025-12-23T07:20:05.755" v="107" actId="20577"/>
          <ac:spMkLst>
            <pc:docMk/>
            <pc:sldMk cId="3979369397" sldId="256"/>
            <ac:spMk id="3" creationId="{20C56F2D-29E5-362C-5DCE-3A9C5FA47739}"/>
          </ac:spMkLst>
        </pc:spChg>
      </pc:sldChg>
      <pc:sldChg chg="modSp mod">
        <pc:chgData name="TEJAS HG" userId="c6bb83dbfd8fee88" providerId="LiveId" clId="{56D7BA9E-D0C5-45A7-8AE7-6D1A3111A67D}" dt="2025-12-23T07:19:19.522" v="87" actId="20577"/>
        <pc:sldMkLst>
          <pc:docMk/>
          <pc:sldMk cId="1612323126" sldId="278"/>
        </pc:sldMkLst>
        <pc:spChg chg="mod">
          <ac:chgData name="TEJAS HG" userId="c6bb83dbfd8fee88" providerId="LiveId" clId="{56D7BA9E-D0C5-45A7-8AE7-6D1A3111A67D}" dt="2025-12-23T07:19:19.522" v="87" actId="20577"/>
          <ac:spMkLst>
            <pc:docMk/>
            <pc:sldMk cId="1612323126" sldId="278"/>
            <ac:spMk id="12" creationId="{640EE0D3-6C0E-4CBF-9AF1-88118E7EFBB8}"/>
          </ac:spMkLst>
        </pc:spChg>
        <pc:spChg chg="mod">
          <ac:chgData name="TEJAS HG" userId="c6bb83dbfd8fee88" providerId="LiveId" clId="{56D7BA9E-D0C5-45A7-8AE7-6D1A3111A67D}" dt="2025-12-23T07:19:14.904" v="83" actId="20577"/>
          <ac:spMkLst>
            <pc:docMk/>
            <pc:sldMk cId="1612323126" sldId="278"/>
            <ac:spMk id="13" creationId="{5A14B527-8474-46F8-9069-6D9DA762507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1755752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3969966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97873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0F1324-B421-473D-A9C0-3E62C017064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308761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0F1324-B421-473D-A9C0-3E62C0170645}" type="datetimeFigureOut">
              <a:rPr lang="en-IN" smtClean="0"/>
              <a:t>23-12-2025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3016670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0F1324-B421-473D-A9C0-3E62C0170645}" type="datetimeFigureOut">
              <a:rPr lang="en-IN" smtClean="0"/>
              <a:t>23-12-2025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151773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0F1324-B421-473D-A9C0-3E62C0170645}" type="datetimeFigureOut">
              <a:rPr lang="en-IN" smtClean="0"/>
              <a:t>23-12-2025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2255562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0F1324-B421-473D-A9C0-3E62C017064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36386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0F1324-B421-473D-A9C0-3E62C017064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460790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8160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76693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2589056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18983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20587336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2554807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F1324-B421-473D-A9C0-3E62C01706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DBFEEC-8D3C-4DE8-BF9A-D1445D2BD822}" type="slidenum">
              <a:rPr lang="en-IN" smtClean="0"/>
              <a:t>‹#›</a:t>
            </a:fld>
            <a:endParaRPr lang="en-IN"/>
          </a:p>
        </p:txBody>
      </p:sp>
    </p:spTree>
    <p:extLst>
      <p:ext uri="{BB962C8B-B14F-4D97-AF65-F5344CB8AC3E}">
        <p14:creationId xmlns:p14="http://schemas.microsoft.com/office/powerpoint/2010/main" val="1678257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A0F1324-B421-473D-A9C0-3E62C0170645}" type="datetimeFigureOut">
              <a:rPr lang="en-IN" smtClean="0"/>
              <a:t>23-12-2025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FDBFEEC-8D3C-4DE8-BF9A-D1445D2BD822}" type="slidenum">
              <a:rPr lang="en-IN" smtClean="0"/>
              <a:t>‹#›</a:t>
            </a:fld>
            <a:endParaRPr lang="en-IN"/>
          </a:p>
        </p:txBody>
      </p:sp>
    </p:spTree>
    <p:extLst>
      <p:ext uri="{BB962C8B-B14F-4D97-AF65-F5344CB8AC3E}">
        <p14:creationId xmlns:p14="http://schemas.microsoft.com/office/powerpoint/2010/main" val="18428616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investopedia.com/terms/s/stop-lossorder.asp"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DC5C6-C980-80BB-80E1-4B18291DB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9363B-55FE-4378-406D-FA7802A0957A}"/>
              </a:ext>
            </a:extLst>
          </p:cNvPr>
          <p:cNvSpPr>
            <a:spLocks noGrp="1"/>
          </p:cNvSpPr>
          <p:nvPr>
            <p:ph type="title"/>
          </p:nvPr>
        </p:nvSpPr>
        <p:spPr>
          <a:xfrm>
            <a:off x="1" y="0"/>
            <a:ext cx="12123174" cy="6858000"/>
          </a:xfrm>
        </p:spPr>
        <p:txBody>
          <a:bodyPr>
            <a:normAutofit/>
          </a:bodyPr>
          <a:lstStyle/>
          <a:p>
            <a:pPr algn="ctr"/>
            <a:endParaRPr lang="en-IN" sz="7200" dirty="0"/>
          </a:p>
        </p:txBody>
      </p:sp>
      <p:pic>
        <p:nvPicPr>
          <p:cNvPr id="3" name="Picture 2">
            <a:extLst>
              <a:ext uri="{FF2B5EF4-FFF2-40B4-BE49-F238E27FC236}">
                <a16:creationId xmlns:a16="http://schemas.microsoft.com/office/drawing/2014/main" id="{CB6A4100-902C-4A93-ABD7-01A171D0C88C}"/>
              </a:ext>
            </a:extLst>
          </p:cNvPr>
          <p:cNvPicPr>
            <a:picLocks noChangeAspect="1"/>
          </p:cNvPicPr>
          <p:nvPr/>
        </p:nvPicPr>
        <p:blipFill rotWithShape="1">
          <a:blip r:embed="rId2">
            <a:extLst>
              <a:ext uri="{28A0092B-C50C-407E-A947-70E740481C1C}">
                <a14:useLocalDpi xmlns:a14="http://schemas.microsoft.com/office/drawing/2010/main" val="0"/>
              </a:ext>
            </a:extLst>
          </a:blip>
          <a:srcRect l="3892" t="3942" r="4151" b="4448"/>
          <a:stretch/>
        </p:blipFill>
        <p:spPr>
          <a:xfrm>
            <a:off x="0" y="0"/>
            <a:ext cx="12192000" cy="6858000"/>
          </a:xfrm>
          <a:prstGeom prst="rect">
            <a:avLst/>
          </a:prstGeom>
        </p:spPr>
      </p:pic>
      <p:pic>
        <p:nvPicPr>
          <p:cNvPr id="4" name="Picture 3">
            <a:extLst>
              <a:ext uri="{FF2B5EF4-FFF2-40B4-BE49-F238E27FC236}">
                <a16:creationId xmlns:a16="http://schemas.microsoft.com/office/drawing/2014/main" id="{B3906263-96D7-4BE9-9F4B-85ACC036D064}"/>
              </a:ext>
            </a:extLst>
          </p:cNvPr>
          <p:cNvPicPr>
            <a:picLocks noChangeAspect="1"/>
          </p:cNvPicPr>
          <p:nvPr/>
        </p:nvPicPr>
        <p:blipFill>
          <a:blip r:embed="rId3"/>
          <a:stretch>
            <a:fillRect/>
          </a:stretch>
        </p:blipFill>
        <p:spPr>
          <a:xfrm>
            <a:off x="8997138" y="993404"/>
            <a:ext cx="2042337" cy="1877731"/>
          </a:xfrm>
          <a:prstGeom prst="rect">
            <a:avLst/>
          </a:prstGeom>
        </p:spPr>
      </p:pic>
      <p:pic>
        <p:nvPicPr>
          <p:cNvPr id="5" name="Picture 4">
            <a:extLst>
              <a:ext uri="{FF2B5EF4-FFF2-40B4-BE49-F238E27FC236}">
                <a16:creationId xmlns:a16="http://schemas.microsoft.com/office/drawing/2014/main" id="{C602D2B1-6371-4CD8-BA39-8FAD77D31F28}"/>
              </a:ext>
            </a:extLst>
          </p:cNvPr>
          <p:cNvPicPr>
            <a:picLocks noChangeAspect="1"/>
          </p:cNvPicPr>
          <p:nvPr/>
        </p:nvPicPr>
        <p:blipFill rotWithShape="1">
          <a:blip r:embed="rId4"/>
          <a:srcRect l="13649" t="14318" r="13462" b="12384"/>
          <a:stretch/>
        </p:blipFill>
        <p:spPr>
          <a:xfrm>
            <a:off x="927752" y="1109048"/>
            <a:ext cx="1637242" cy="1646442"/>
          </a:xfrm>
          <a:prstGeom prst="rect">
            <a:avLst/>
          </a:prstGeom>
        </p:spPr>
      </p:pic>
      <p:sp>
        <p:nvSpPr>
          <p:cNvPr id="6" name="TextBox 11">
            <a:extLst>
              <a:ext uri="{FF2B5EF4-FFF2-40B4-BE49-F238E27FC236}">
                <a16:creationId xmlns:a16="http://schemas.microsoft.com/office/drawing/2014/main" id="{12FDDAA5-2978-4AEA-A465-9B6E3CCCD5F9}"/>
              </a:ext>
            </a:extLst>
          </p:cNvPr>
          <p:cNvSpPr txBox="1"/>
          <p:nvPr/>
        </p:nvSpPr>
        <p:spPr>
          <a:xfrm>
            <a:off x="2669769" y="939918"/>
            <a:ext cx="6153150" cy="193899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000" b="1" spc="-65" dirty="0">
                <a:latin typeface="Crimson Pro Semi Bold" panose="020B0604020202020204"/>
                <a:cs typeface="Times New Roman" panose="02020603050405020304" pitchFamily="18" charset="0"/>
              </a:rPr>
              <a:t>VISVESVARAYA </a:t>
            </a:r>
            <a:r>
              <a:rPr lang="en-IN" sz="2000" b="1" spc="-5" dirty="0">
                <a:latin typeface="Crimson Pro Semi Bold" panose="020B0604020202020204"/>
                <a:cs typeface="Times New Roman" panose="02020603050405020304" pitchFamily="18" charset="0"/>
              </a:rPr>
              <a:t>TECHNOLOGICAL</a:t>
            </a:r>
            <a:r>
              <a:rPr lang="en-IN" sz="2000" b="1" spc="-210" dirty="0">
                <a:latin typeface="Crimson Pro Semi Bold" panose="020B0604020202020204"/>
                <a:cs typeface="Times New Roman" panose="02020603050405020304" pitchFamily="18" charset="0"/>
              </a:rPr>
              <a:t> </a:t>
            </a:r>
            <a:r>
              <a:rPr lang="en-IN" sz="2000" b="1" spc="-5" dirty="0">
                <a:latin typeface="Crimson Pro Semi Bold" panose="020B0604020202020204"/>
                <a:cs typeface="Times New Roman" panose="02020603050405020304" pitchFamily="18" charset="0"/>
              </a:rPr>
              <a:t>UNIVERSITY</a:t>
            </a:r>
            <a:br>
              <a:rPr lang="en-IN" sz="2800" b="1" dirty="0">
                <a:latin typeface="Crimson Pro Semi Bold" panose="020B0604020202020204"/>
                <a:cs typeface="Times New Roman" panose="02020603050405020304" pitchFamily="18" charset="0"/>
              </a:rPr>
            </a:br>
            <a:r>
              <a:rPr lang="en-IN" sz="2800" b="1" dirty="0">
                <a:latin typeface="Crimson Pro Semi Bold" panose="020B0604020202020204"/>
                <a:cs typeface="Times New Roman" panose="02020603050405020304" pitchFamily="18" charset="0"/>
              </a:rPr>
              <a:t> </a:t>
            </a:r>
            <a:r>
              <a:rPr lang="en-IN" sz="1800" b="1" spc="-5" dirty="0">
                <a:latin typeface="Crimson Pro Semi Bold" panose="020B0604020202020204"/>
                <a:cs typeface="Times New Roman" panose="02020603050405020304" pitchFamily="18" charset="0"/>
              </a:rPr>
              <a:t>“JNANA </a:t>
            </a:r>
            <a:r>
              <a:rPr lang="en-IN" sz="1800" b="1" dirty="0">
                <a:latin typeface="Crimson Pro Semi Bold" panose="020B0604020202020204"/>
                <a:cs typeface="Times New Roman" panose="02020603050405020304" pitchFamily="18" charset="0"/>
              </a:rPr>
              <a:t>SANGAMA”, BELAGAVI–</a:t>
            </a:r>
            <a:r>
              <a:rPr lang="en-IN" sz="1800" b="1" spc="-5" dirty="0">
                <a:latin typeface="Crimson Pro Semi Bold" panose="020B0604020202020204"/>
                <a:cs typeface="Times New Roman" panose="02020603050405020304" pitchFamily="18" charset="0"/>
              </a:rPr>
              <a:t> </a:t>
            </a:r>
            <a:r>
              <a:rPr lang="en-IN" sz="1800" b="1" dirty="0">
                <a:latin typeface="Crimson Pro Semi Bold" panose="020B0604020202020204"/>
                <a:cs typeface="Times New Roman" panose="02020603050405020304" pitchFamily="18" charset="0"/>
              </a:rPr>
              <a:t>590018</a:t>
            </a:r>
          </a:p>
          <a:p>
            <a:pPr algn="ctr"/>
            <a:endParaRPr lang="en-IN" sz="1800" b="1" dirty="0">
              <a:latin typeface="Crimson Pro Semi Bold" panose="020B0604020202020204"/>
              <a:cs typeface="Times New Roman" panose="02020603050405020304" pitchFamily="18" charset="0"/>
            </a:endParaRPr>
          </a:p>
          <a:p>
            <a:pPr algn="ctr"/>
            <a:r>
              <a:rPr lang="en-IN" sz="1800" b="1" dirty="0">
                <a:latin typeface="Crimson Pro Semi Bold" panose="020B0604020202020204"/>
                <a:cs typeface="Times New Roman" panose="02020603050405020304" pitchFamily="18" charset="0"/>
              </a:rPr>
              <a:t>GHOUSIA COLLEGE OF ENGINEERING, RAMANAGARAM</a:t>
            </a:r>
            <a:br>
              <a:rPr lang="en-IN" sz="1800" b="1" dirty="0">
                <a:latin typeface="Crimson Pro Semi Bold" panose="020B0604020202020204"/>
                <a:cs typeface="Times New Roman" panose="02020603050405020304" pitchFamily="18" charset="0"/>
              </a:rPr>
            </a:br>
            <a:r>
              <a:rPr lang="en-US" altLang="ar-IQ" sz="1800" dirty="0">
                <a:latin typeface="Crimson Pro Semi Bold" panose="020B0604020202020204"/>
                <a:cs typeface="Times New Roman" panose="02020603050405020304" pitchFamily="18" charset="0"/>
              </a:rPr>
              <a:t>DEPARTMENT OF COMPUTER SCIENCE </a:t>
            </a:r>
          </a:p>
          <a:p>
            <a:endParaRPr lang="en-IN" dirty="0"/>
          </a:p>
        </p:txBody>
      </p:sp>
      <p:sp>
        <p:nvSpPr>
          <p:cNvPr id="7" name="TextBox 13">
            <a:extLst>
              <a:ext uri="{FF2B5EF4-FFF2-40B4-BE49-F238E27FC236}">
                <a16:creationId xmlns:a16="http://schemas.microsoft.com/office/drawing/2014/main" id="{9FBA292B-FD79-46D4-8DEB-A34C1F51EADB}"/>
              </a:ext>
            </a:extLst>
          </p:cNvPr>
          <p:cNvSpPr txBox="1"/>
          <p:nvPr/>
        </p:nvSpPr>
        <p:spPr>
          <a:xfrm>
            <a:off x="4920746" y="2902789"/>
            <a:ext cx="2089654" cy="338554"/>
          </a:xfrm>
          <a:prstGeom prst="rect">
            <a:avLst/>
          </a:prstGeom>
          <a:noFill/>
          <a:effectLst/>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latin typeface="Crimson Pro Semi Bold" panose="020B0604020202020204"/>
              </a:rPr>
              <a:t>Presentation On</a:t>
            </a:r>
          </a:p>
        </p:txBody>
      </p:sp>
      <p:sp>
        <p:nvSpPr>
          <p:cNvPr id="8" name="TextBox 14">
            <a:extLst>
              <a:ext uri="{FF2B5EF4-FFF2-40B4-BE49-F238E27FC236}">
                <a16:creationId xmlns:a16="http://schemas.microsoft.com/office/drawing/2014/main" id="{D61353DE-33BA-4414-84AC-FFA12EBE52BE}"/>
              </a:ext>
            </a:extLst>
          </p:cNvPr>
          <p:cNvSpPr txBox="1"/>
          <p:nvPr/>
        </p:nvSpPr>
        <p:spPr>
          <a:xfrm>
            <a:off x="7010400" y="3486226"/>
            <a:ext cx="184731"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9" name="TextBox 15">
            <a:extLst>
              <a:ext uri="{FF2B5EF4-FFF2-40B4-BE49-F238E27FC236}">
                <a16:creationId xmlns:a16="http://schemas.microsoft.com/office/drawing/2014/main" id="{C9F1B13F-BAC3-4D6D-A72F-9FF09CDAB9CC}"/>
              </a:ext>
            </a:extLst>
          </p:cNvPr>
          <p:cNvSpPr txBox="1"/>
          <p:nvPr/>
        </p:nvSpPr>
        <p:spPr>
          <a:xfrm>
            <a:off x="2564995" y="3332836"/>
            <a:ext cx="723776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solidFill>
                  <a:srgbClr val="002060"/>
                </a:solidFill>
                <a:latin typeface="Heebo" pitchFamily="2" charset="-79"/>
                <a:cs typeface="Heebo" pitchFamily="2" charset="-79"/>
              </a:rPr>
              <a:t>STOCK MARKET TREND ANALYSIS USING MACHINE LEARNING</a:t>
            </a:r>
          </a:p>
        </p:txBody>
      </p:sp>
      <p:sp>
        <p:nvSpPr>
          <p:cNvPr id="10" name="TextBox 16">
            <a:extLst>
              <a:ext uri="{FF2B5EF4-FFF2-40B4-BE49-F238E27FC236}">
                <a16:creationId xmlns:a16="http://schemas.microsoft.com/office/drawing/2014/main" id="{703A73C4-A222-44CE-B38A-199FBCD90150}"/>
              </a:ext>
            </a:extLst>
          </p:cNvPr>
          <p:cNvSpPr txBox="1"/>
          <p:nvPr/>
        </p:nvSpPr>
        <p:spPr>
          <a:xfrm>
            <a:off x="1238555" y="4282673"/>
            <a:ext cx="4288017"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dirty="0">
                <a:latin typeface="Heebo" pitchFamily="2" charset="-79"/>
                <a:cs typeface="Heebo" pitchFamily="2" charset="-79"/>
              </a:rPr>
              <a:t>SUBMITTED BY:</a:t>
            </a:r>
          </a:p>
          <a:p>
            <a:r>
              <a:rPr lang="en-IN" sz="1400" dirty="0">
                <a:latin typeface="Heebo" pitchFamily="2" charset="-79"/>
                <a:cs typeface="Heebo" pitchFamily="2" charset="-79"/>
              </a:rPr>
              <a:t>SHASHANK GOWDA G		1GC22CS107</a:t>
            </a:r>
          </a:p>
          <a:p>
            <a:r>
              <a:rPr lang="en-IN" sz="1400" dirty="0">
                <a:latin typeface="Heebo" pitchFamily="2" charset="-79"/>
                <a:ea typeface="Times New Roman" panose="02020603050405020304" pitchFamily="18" charset="0"/>
                <a:cs typeface="Heebo" pitchFamily="2" charset="-79"/>
              </a:rPr>
              <a:t>TEJAS H G                      	1</a:t>
            </a:r>
            <a:r>
              <a:rPr lang="en-IN" sz="1400" dirty="0">
                <a:effectLst/>
                <a:latin typeface="Heebo" pitchFamily="2" charset="-79"/>
                <a:ea typeface="Times New Roman" panose="02020603050405020304" pitchFamily="18" charset="0"/>
                <a:cs typeface="Heebo" pitchFamily="2" charset="-79"/>
              </a:rPr>
              <a:t>GC22CS138</a:t>
            </a:r>
          </a:p>
          <a:p>
            <a:r>
              <a:rPr lang="en-IN" sz="1400" dirty="0">
                <a:latin typeface="Heebo" pitchFamily="2" charset="-79"/>
                <a:cs typeface="Heebo" pitchFamily="2" charset="-79"/>
              </a:rPr>
              <a:t>TEJAS G		                     1GC22CS137</a:t>
            </a:r>
          </a:p>
          <a:p>
            <a:r>
              <a:rPr lang="en-IN" sz="1400" dirty="0">
                <a:latin typeface="Heebo" pitchFamily="2" charset="-79"/>
                <a:cs typeface="Heebo" pitchFamily="2" charset="-79"/>
              </a:rPr>
              <a:t>YASHWANTH N		1GC22CS151</a:t>
            </a:r>
          </a:p>
        </p:txBody>
      </p:sp>
      <p:pic>
        <p:nvPicPr>
          <p:cNvPr id="11" name="Picture 10">
            <a:extLst>
              <a:ext uri="{FF2B5EF4-FFF2-40B4-BE49-F238E27FC236}">
                <a16:creationId xmlns:a16="http://schemas.microsoft.com/office/drawing/2014/main" id="{35EA326E-8F35-418C-8EF2-FF839BE584A6}"/>
              </a:ext>
            </a:extLst>
          </p:cNvPr>
          <p:cNvPicPr>
            <a:picLocks noChangeAspect="1"/>
          </p:cNvPicPr>
          <p:nvPr/>
        </p:nvPicPr>
        <p:blipFill rotWithShape="1">
          <a:blip r:embed="rId5"/>
          <a:srcRect l="7148" t="48911" r="8539" b="47333"/>
          <a:stretch/>
        </p:blipFill>
        <p:spPr>
          <a:xfrm>
            <a:off x="3278560" y="5949185"/>
            <a:ext cx="5718578" cy="254786"/>
          </a:xfrm>
          <a:prstGeom prst="rect">
            <a:avLst/>
          </a:prstGeom>
        </p:spPr>
      </p:pic>
      <p:sp>
        <p:nvSpPr>
          <p:cNvPr id="12" name="TextBox 2">
            <a:extLst>
              <a:ext uri="{FF2B5EF4-FFF2-40B4-BE49-F238E27FC236}">
                <a16:creationId xmlns:a16="http://schemas.microsoft.com/office/drawing/2014/main" id="{640EE0D3-6C0E-4CBF-9AF1-88118E7EFBB8}"/>
              </a:ext>
            </a:extLst>
          </p:cNvPr>
          <p:cNvSpPr txBox="1"/>
          <p:nvPr/>
        </p:nvSpPr>
        <p:spPr>
          <a:xfrm>
            <a:off x="5746344" y="4465869"/>
            <a:ext cx="2084671"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dirty="0">
                <a:latin typeface="Crimson Pro Semi Bold" panose="020B0604020202020204"/>
              </a:rPr>
              <a:t>Project Guide:</a:t>
            </a:r>
          </a:p>
          <a:p>
            <a:pPr algn="ctr"/>
            <a:r>
              <a:rPr lang="en-IN" sz="1400" b="1" dirty="0">
                <a:solidFill>
                  <a:srgbClr val="002060"/>
                </a:solidFill>
                <a:latin typeface="Heebo" pitchFamily="2" charset="-79"/>
                <a:cs typeface="Heebo" pitchFamily="2" charset="-79"/>
              </a:rPr>
              <a:t> </a:t>
            </a:r>
            <a:r>
              <a:rPr lang="en-IN" sz="1600" b="1" dirty="0">
                <a:solidFill>
                  <a:srgbClr val="002060"/>
                </a:solidFill>
                <a:latin typeface="Heebo" pitchFamily="2" charset="-79"/>
                <a:cs typeface="Heebo" pitchFamily="2" charset="-79"/>
              </a:rPr>
              <a:t>DR.DILSHAD BEGUM</a:t>
            </a:r>
          </a:p>
          <a:p>
            <a:pPr algn="ctr"/>
            <a:r>
              <a:rPr lang="en-IN" sz="1400" dirty="0">
                <a:latin typeface="Heebo" pitchFamily="2" charset="-79"/>
                <a:cs typeface="Heebo" pitchFamily="2" charset="-79"/>
              </a:rPr>
              <a:t>  Professor &amp; HOD, Dept of CSE</a:t>
            </a:r>
          </a:p>
        </p:txBody>
      </p:sp>
      <p:sp>
        <p:nvSpPr>
          <p:cNvPr id="13" name="TextBox 3">
            <a:extLst>
              <a:ext uri="{FF2B5EF4-FFF2-40B4-BE49-F238E27FC236}">
                <a16:creationId xmlns:a16="http://schemas.microsoft.com/office/drawing/2014/main" id="{5A14B527-8474-46F8-9069-6D9DA762507E}"/>
              </a:ext>
            </a:extLst>
          </p:cNvPr>
          <p:cNvSpPr txBox="1"/>
          <p:nvPr/>
        </p:nvSpPr>
        <p:spPr>
          <a:xfrm>
            <a:off x="8054126" y="4497868"/>
            <a:ext cx="2899319" cy="104644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dirty="0">
                <a:latin typeface="Crimson Pro Semi Bold" panose="020B0604020202020204"/>
              </a:rPr>
              <a:t>Project Coordinator:</a:t>
            </a:r>
          </a:p>
          <a:p>
            <a:pPr algn="ctr"/>
            <a:r>
              <a:rPr lang="en-IN" sz="1600" b="1" dirty="0" err="1">
                <a:solidFill>
                  <a:srgbClr val="002060"/>
                </a:solidFill>
                <a:latin typeface="Heebo" pitchFamily="2" charset="-79"/>
                <a:cs typeface="Heebo" pitchFamily="2" charset="-79"/>
              </a:rPr>
              <a:t>DR.Omar</a:t>
            </a:r>
            <a:r>
              <a:rPr lang="en-IN" sz="1600" b="1" dirty="0">
                <a:solidFill>
                  <a:srgbClr val="002060"/>
                </a:solidFill>
                <a:latin typeface="Heebo" pitchFamily="2" charset="-79"/>
                <a:cs typeface="Heebo" pitchFamily="2" charset="-79"/>
              </a:rPr>
              <a:t> Khan Durrani</a:t>
            </a:r>
          </a:p>
          <a:p>
            <a:pPr algn="ctr"/>
            <a:r>
              <a:rPr lang="en-IN" sz="1400" dirty="0">
                <a:latin typeface="Heebo" pitchFamily="2" charset="-79"/>
                <a:cs typeface="Heebo" pitchFamily="2" charset="-79"/>
              </a:rPr>
              <a:t>   Associate Professor &amp; HOD, Dept of ISE</a:t>
            </a:r>
          </a:p>
        </p:txBody>
      </p:sp>
    </p:spTree>
    <p:extLst>
      <p:ext uri="{BB962C8B-B14F-4D97-AF65-F5344CB8AC3E}">
        <p14:creationId xmlns:p14="http://schemas.microsoft.com/office/powerpoint/2010/main" val="1612323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5727-F41F-0892-2EC4-A67365B96128}"/>
              </a:ext>
            </a:extLst>
          </p:cNvPr>
          <p:cNvSpPr>
            <a:spLocks noGrp="1"/>
          </p:cNvSpPr>
          <p:nvPr>
            <p:ph type="ctrTitle"/>
          </p:nvPr>
        </p:nvSpPr>
        <p:spPr>
          <a:xfrm>
            <a:off x="934064" y="294968"/>
            <a:ext cx="8347588" cy="2408904"/>
          </a:xfrm>
        </p:spPr>
        <p:txBody>
          <a:bodyPr/>
          <a:lstStyle/>
          <a:p>
            <a:pPr algn="l"/>
            <a:r>
              <a:rPr lang="en-IN" sz="4800" dirty="0"/>
              <a:t>STOCK MARKET TREND ANALYSIS USING MACHINE LEARING</a:t>
            </a:r>
          </a:p>
        </p:txBody>
      </p:sp>
      <p:sp>
        <p:nvSpPr>
          <p:cNvPr id="3" name="Subtitle 2">
            <a:extLst>
              <a:ext uri="{FF2B5EF4-FFF2-40B4-BE49-F238E27FC236}">
                <a16:creationId xmlns:a16="http://schemas.microsoft.com/office/drawing/2014/main" id="{20C56F2D-29E5-362C-5DCE-3A9C5FA47739}"/>
              </a:ext>
            </a:extLst>
          </p:cNvPr>
          <p:cNvSpPr>
            <a:spLocks noGrp="1"/>
          </p:cNvSpPr>
          <p:nvPr>
            <p:ph type="subTitle" idx="1"/>
          </p:nvPr>
        </p:nvSpPr>
        <p:spPr>
          <a:xfrm>
            <a:off x="521110" y="3215148"/>
            <a:ext cx="7629832" cy="1700981"/>
          </a:xfrm>
        </p:spPr>
        <p:txBody>
          <a:bodyPr>
            <a:normAutofit/>
          </a:bodyPr>
          <a:lstStyle/>
          <a:p>
            <a:r>
              <a:rPr lang="en-IN" sz="3200" dirty="0"/>
              <a:t> </a:t>
            </a:r>
            <a:r>
              <a:rPr lang="en-IN" sz="3600" b="1" dirty="0">
                <a:solidFill>
                  <a:schemeClr val="accent3">
                    <a:lumMod val="75000"/>
                  </a:schemeClr>
                </a:solidFill>
              </a:rPr>
              <a:t>A </a:t>
            </a:r>
            <a:r>
              <a:rPr lang="en-IN" sz="3600" b="1">
                <a:solidFill>
                  <a:schemeClr val="accent3">
                    <a:lumMod val="75000"/>
                  </a:schemeClr>
                </a:solidFill>
              </a:rPr>
              <a:t>Project presentation </a:t>
            </a:r>
            <a:r>
              <a:rPr lang="en-IN" sz="3600" b="1" dirty="0">
                <a:solidFill>
                  <a:schemeClr val="accent3">
                    <a:lumMod val="75000"/>
                  </a:schemeClr>
                </a:solidFill>
              </a:rPr>
              <a:t>on Market Dynamics, Analysis and Strategy</a:t>
            </a:r>
          </a:p>
        </p:txBody>
      </p:sp>
    </p:spTree>
    <p:extLst>
      <p:ext uri="{BB962C8B-B14F-4D97-AF65-F5344CB8AC3E}">
        <p14:creationId xmlns:p14="http://schemas.microsoft.com/office/powerpoint/2010/main" val="3979369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945E9-1262-D49C-5D9E-705E506BD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B407D-8B27-4348-58F1-2F31A6A0205F}"/>
              </a:ext>
            </a:extLst>
          </p:cNvPr>
          <p:cNvSpPr>
            <a:spLocks noGrp="1"/>
          </p:cNvSpPr>
          <p:nvPr>
            <p:ph type="title"/>
          </p:nvPr>
        </p:nvSpPr>
        <p:spPr>
          <a:xfrm>
            <a:off x="147484" y="1081548"/>
            <a:ext cx="9252155" cy="5604387"/>
          </a:xfrm>
        </p:spPr>
        <p:txBody>
          <a:bodyPr>
            <a:normAutofit/>
          </a:bodyPr>
          <a:lstStyle/>
          <a:p>
            <a:pPr algn="ctr"/>
            <a:r>
              <a:rPr lang="en-US" sz="2000" dirty="0"/>
              <a:t>The accurate forecasting of stock market movements remains a critical challenge for investors due to high volatility and the presence of numerous interacting financial, economic, and psychological factors. This study aims to analyze and evaluate the efficacy of classical technical indicators in identifying short-term trends within the S&amp;P 500 index over a five-year period (January 2020 – December 2024). The methodology involved collecting daily price and volume data and systematically applying three key technical analysis tools: the Moving Average Convergence Divergence (MACD), Relative Strength Index (RSI), and Bollinger Bands. Trading signals generated by these indicators were back-tested against a simple buy-and-hold strategy. Key findings indicate that a combined strategy utilizing MACD crossover signals for trend direction and RSI for overbought/oversold confirmation generated an annualized return of X%, which outperformed the benchmark S&amp;P 500 return of Y% with a lower maximum drawdown. </a:t>
            </a:r>
            <a:endParaRPr lang="en-IN" sz="2000" dirty="0"/>
          </a:p>
        </p:txBody>
      </p:sp>
      <p:sp>
        <p:nvSpPr>
          <p:cNvPr id="3" name="TextBox 2">
            <a:extLst>
              <a:ext uri="{FF2B5EF4-FFF2-40B4-BE49-F238E27FC236}">
                <a16:creationId xmlns:a16="http://schemas.microsoft.com/office/drawing/2014/main" id="{844631E2-B806-3FC5-839D-C72B3377B27E}"/>
              </a:ext>
            </a:extLst>
          </p:cNvPr>
          <p:cNvSpPr txBox="1"/>
          <p:nvPr/>
        </p:nvSpPr>
        <p:spPr>
          <a:xfrm>
            <a:off x="609600" y="314633"/>
            <a:ext cx="5574891" cy="646331"/>
          </a:xfrm>
          <a:prstGeom prst="rect">
            <a:avLst/>
          </a:prstGeom>
          <a:noFill/>
        </p:spPr>
        <p:txBody>
          <a:bodyPr wrap="square" rtlCol="0">
            <a:spAutoFit/>
          </a:bodyPr>
          <a:lstStyle/>
          <a:p>
            <a:r>
              <a:rPr lang="en-IN" sz="3600" dirty="0">
                <a:solidFill>
                  <a:schemeClr val="accent2"/>
                </a:solidFill>
              </a:rPr>
              <a:t>ABSTRACT</a:t>
            </a:r>
          </a:p>
        </p:txBody>
      </p:sp>
    </p:spTree>
    <p:extLst>
      <p:ext uri="{BB962C8B-B14F-4D97-AF65-F5344CB8AC3E}">
        <p14:creationId xmlns:p14="http://schemas.microsoft.com/office/powerpoint/2010/main" val="3446541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3CA0-B5FD-6C6E-937A-D206B3975396}"/>
              </a:ext>
            </a:extLst>
          </p:cNvPr>
          <p:cNvSpPr>
            <a:spLocks noGrp="1"/>
          </p:cNvSpPr>
          <p:nvPr>
            <p:ph type="ctrTitle"/>
          </p:nvPr>
        </p:nvSpPr>
        <p:spPr>
          <a:xfrm>
            <a:off x="904568" y="294968"/>
            <a:ext cx="7069393" cy="1818967"/>
          </a:xfrm>
        </p:spPr>
        <p:txBody>
          <a:bodyPr/>
          <a:lstStyle/>
          <a:p>
            <a:pPr algn="l"/>
            <a:r>
              <a:rPr lang="en-IN" dirty="0"/>
              <a:t>What is Stock Market Trend</a:t>
            </a:r>
          </a:p>
        </p:txBody>
      </p:sp>
      <p:sp>
        <p:nvSpPr>
          <p:cNvPr id="3" name="Subtitle 2">
            <a:extLst>
              <a:ext uri="{FF2B5EF4-FFF2-40B4-BE49-F238E27FC236}">
                <a16:creationId xmlns:a16="http://schemas.microsoft.com/office/drawing/2014/main" id="{1189E850-8922-2830-C3C0-AA851400F0FC}"/>
              </a:ext>
            </a:extLst>
          </p:cNvPr>
          <p:cNvSpPr>
            <a:spLocks noGrp="1"/>
          </p:cNvSpPr>
          <p:nvPr>
            <p:ph type="subTitle" idx="1"/>
          </p:nvPr>
        </p:nvSpPr>
        <p:spPr>
          <a:xfrm>
            <a:off x="550607" y="2113935"/>
            <a:ext cx="5240594" cy="3736259"/>
          </a:xfrm>
        </p:spPr>
        <p:txBody>
          <a:bodyPr>
            <a:normAutofit fontScale="92500" lnSpcReduction="10000"/>
          </a:bodyPr>
          <a:lstStyle/>
          <a:p>
            <a:pPr algn="l"/>
            <a:r>
              <a:rPr lang="en-IN" sz="2000" dirty="0">
                <a:solidFill>
                  <a:schemeClr val="bg2">
                    <a:lumMod val="10000"/>
                  </a:schemeClr>
                </a:solidFill>
              </a:rPr>
              <a:t>Uptrend(Bull): A series of Higher highs and Higher lows, indicating optimism and demand Trend is the General Direction (Up,Down or Sideways ) in which market is moving over time</a:t>
            </a:r>
          </a:p>
          <a:p>
            <a:pPr algn="l"/>
            <a:r>
              <a:rPr lang="en-IN" sz="2000" dirty="0">
                <a:solidFill>
                  <a:schemeClr val="bg2">
                    <a:lumMod val="10000"/>
                  </a:schemeClr>
                </a:solidFill>
              </a:rPr>
              <a:t> </a:t>
            </a:r>
          </a:p>
          <a:p>
            <a:pPr algn="l"/>
            <a:r>
              <a:rPr lang="en-IN" sz="2000" dirty="0">
                <a:solidFill>
                  <a:schemeClr val="bg2">
                    <a:lumMod val="10000"/>
                  </a:schemeClr>
                </a:solidFill>
              </a:rPr>
              <a:t>Downtrend(Bear):A series of Lower  highs and Lower lows,reflecting pessimism and supply</a:t>
            </a:r>
          </a:p>
          <a:p>
            <a:pPr algn="l"/>
            <a:endParaRPr lang="en-IN" sz="2000" dirty="0">
              <a:solidFill>
                <a:schemeClr val="bg2">
                  <a:lumMod val="10000"/>
                </a:schemeClr>
              </a:solidFill>
            </a:endParaRPr>
          </a:p>
          <a:p>
            <a:pPr algn="l"/>
            <a:r>
              <a:rPr lang="en-IN" sz="2000" dirty="0">
                <a:solidFill>
                  <a:schemeClr val="bg2">
                    <a:lumMod val="10000"/>
                  </a:schemeClr>
                </a:solidFill>
              </a:rPr>
              <a:t>Sideways: Price moves in narrow range, indicating consolidation or balance</a:t>
            </a:r>
          </a:p>
          <a:p>
            <a:endParaRPr lang="en-IN" dirty="0"/>
          </a:p>
        </p:txBody>
      </p:sp>
      <p:pic>
        <p:nvPicPr>
          <p:cNvPr id="5" name="Picture 4">
            <a:extLst>
              <a:ext uri="{FF2B5EF4-FFF2-40B4-BE49-F238E27FC236}">
                <a16:creationId xmlns:a16="http://schemas.microsoft.com/office/drawing/2014/main" id="{E9CBB813-3278-6426-0170-EE68785E9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2374" y="2487560"/>
            <a:ext cx="3519949" cy="2922639"/>
          </a:xfrm>
          <a:prstGeom prst="rect">
            <a:avLst/>
          </a:prstGeom>
        </p:spPr>
      </p:pic>
    </p:spTree>
    <p:extLst>
      <p:ext uri="{BB962C8B-B14F-4D97-AF65-F5344CB8AC3E}">
        <p14:creationId xmlns:p14="http://schemas.microsoft.com/office/powerpoint/2010/main" val="2358515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D46C0-2D8B-992C-4CD6-84DC33E212E9}"/>
              </a:ext>
            </a:extLst>
          </p:cNvPr>
          <p:cNvSpPr>
            <a:spLocks noGrp="1"/>
          </p:cNvSpPr>
          <p:nvPr>
            <p:ph type="ctrTitle"/>
          </p:nvPr>
        </p:nvSpPr>
        <p:spPr>
          <a:xfrm>
            <a:off x="816077" y="167148"/>
            <a:ext cx="7521678" cy="2064775"/>
          </a:xfrm>
        </p:spPr>
        <p:txBody>
          <a:bodyPr/>
          <a:lstStyle/>
          <a:p>
            <a:pPr algn="l"/>
            <a:r>
              <a:rPr lang="en-IN" dirty="0"/>
              <a:t>Trend Classification by Duration</a:t>
            </a:r>
          </a:p>
        </p:txBody>
      </p:sp>
      <p:sp>
        <p:nvSpPr>
          <p:cNvPr id="3" name="Subtitle 2">
            <a:extLst>
              <a:ext uri="{FF2B5EF4-FFF2-40B4-BE49-F238E27FC236}">
                <a16:creationId xmlns:a16="http://schemas.microsoft.com/office/drawing/2014/main" id="{43A2F91B-0CA5-0F73-1AB7-C0E2EFE9CD09}"/>
              </a:ext>
            </a:extLst>
          </p:cNvPr>
          <p:cNvSpPr>
            <a:spLocks noGrp="1"/>
          </p:cNvSpPr>
          <p:nvPr>
            <p:ph type="subTitle" idx="1"/>
          </p:nvPr>
        </p:nvSpPr>
        <p:spPr>
          <a:xfrm>
            <a:off x="648929" y="2451664"/>
            <a:ext cx="4522839" cy="3821317"/>
          </a:xfrm>
        </p:spPr>
        <p:txBody>
          <a:bodyPr>
            <a:normAutofit/>
          </a:bodyPr>
          <a:lstStyle/>
          <a:p>
            <a:pPr algn="l"/>
            <a:r>
              <a:rPr lang="en-IN" sz="2000" dirty="0">
                <a:solidFill>
                  <a:schemeClr val="bg2">
                    <a:lumMod val="10000"/>
                  </a:schemeClr>
                </a:solidFill>
              </a:rPr>
              <a:t>Primary(Long-Term)L:</a:t>
            </a:r>
          </a:p>
          <a:p>
            <a:pPr algn="l"/>
            <a:r>
              <a:rPr lang="en-IN" sz="2000" dirty="0">
                <a:solidFill>
                  <a:schemeClr val="bg2">
                    <a:lumMod val="10000"/>
                  </a:schemeClr>
                </a:solidFill>
              </a:rPr>
              <a:t>Lasts one year or more. Represents the fundamental economic “tide”</a:t>
            </a:r>
          </a:p>
          <a:p>
            <a:pPr algn="l"/>
            <a:r>
              <a:rPr lang="en-IN" sz="2000" dirty="0">
                <a:solidFill>
                  <a:schemeClr val="bg2">
                    <a:lumMod val="10000"/>
                  </a:schemeClr>
                </a:solidFill>
              </a:rPr>
              <a:t>Secondary(Mid-Term)</a:t>
            </a:r>
          </a:p>
          <a:p>
            <a:pPr algn="l"/>
            <a:r>
              <a:rPr lang="en-IN" sz="2000" dirty="0">
                <a:solidFill>
                  <a:schemeClr val="bg2">
                    <a:lumMod val="10000"/>
                  </a:schemeClr>
                </a:solidFill>
              </a:rPr>
              <a:t>Lasts one to three months. Acts as a correction or reaction within the primary trend</a:t>
            </a:r>
          </a:p>
          <a:p>
            <a:pPr algn="l"/>
            <a:r>
              <a:rPr lang="en-IN" sz="2000" dirty="0">
                <a:solidFill>
                  <a:schemeClr val="bg2">
                    <a:lumMod val="10000"/>
                  </a:schemeClr>
                </a:solidFill>
              </a:rPr>
              <a:t>Minor ()Short-Term):</a:t>
            </a:r>
          </a:p>
          <a:p>
            <a:pPr algn="l"/>
            <a:r>
              <a:rPr lang="en-IN" sz="2000" dirty="0">
                <a:solidFill>
                  <a:schemeClr val="bg2">
                    <a:lumMod val="10000"/>
                  </a:schemeClr>
                </a:solidFill>
              </a:rPr>
              <a:t>Lasts less than a month. Represents daily volatility or “market noise”</a:t>
            </a:r>
          </a:p>
          <a:p>
            <a:pPr algn="l"/>
            <a:endParaRPr lang="en-IN" dirty="0"/>
          </a:p>
          <a:p>
            <a:pPr algn="l"/>
            <a:endParaRPr lang="en-IN" dirty="0"/>
          </a:p>
        </p:txBody>
      </p:sp>
      <p:pic>
        <p:nvPicPr>
          <p:cNvPr id="5" name="Picture 4">
            <a:extLst>
              <a:ext uri="{FF2B5EF4-FFF2-40B4-BE49-F238E27FC236}">
                <a16:creationId xmlns:a16="http://schemas.microsoft.com/office/drawing/2014/main" id="{D80ADAD5-48CC-44D1-4E89-D6FDA3521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5458" y="2664542"/>
            <a:ext cx="4601497" cy="2821858"/>
          </a:xfrm>
          <a:prstGeom prst="rect">
            <a:avLst/>
          </a:prstGeom>
        </p:spPr>
      </p:pic>
    </p:spTree>
    <p:extLst>
      <p:ext uri="{BB962C8B-B14F-4D97-AF65-F5344CB8AC3E}">
        <p14:creationId xmlns:p14="http://schemas.microsoft.com/office/powerpoint/2010/main" val="3787514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5B9C-EA1D-0988-4119-95E546D55A26}"/>
              </a:ext>
            </a:extLst>
          </p:cNvPr>
          <p:cNvSpPr>
            <a:spLocks noGrp="1"/>
          </p:cNvSpPr>
          <p:nvPr>
            <p:ph type="ctrTitle"/>
          </p:nvPr>
        </p:nvSpPr>
        <p:spPr>
          <a:xfrm>
            <a:off x="799144" y="255639"/>
            <a:ext cx="7766936" cy="1573162"/>
          </a:xfrm>
        </p:spPr>
        <p:txBody>
          <a:bodyPr/>
          <a:lstStyle/>
          <a:p>
            <a:pPr algn="l"/>
            <a:r>
              <a:rPr lang="en-IN" dirty="0"/>
              <a:t>Why Analyse Trends</a:t>
            </a:r>
          </a:p>
        </p:txBody>
      </p:sp>
      <p:sp>
        <p:nvSpPr>
          <p:cNvPr id="3" name="Subtitle 2">
            <a:extLst>
              <a:ext uri="{FF2B5EF4-FFF2-40B4-BE49-F238E27FC236}">
                <a16:creationId xmlns:a16="http://schemas.microsoft.com/office/drawing/2014/main" id="{9E83BDEB-9935-C1E3-98C6-19D2D94A6D4D}"/>
              </a:ext>
            </a:extLst>
          </p:cNvPr>
          <p:cNvSpPr>
            <a:spLocks noGrp="1"/>
          </p:cNvSpPr>
          <p:nvPr>
            <p:ph type="subTitle" idx="1"/>
          </p:nvPr>
        </p:nvSpPr>
        <p:spPr>
          <a:xfrm>
            <a:off x="521110" y="2428569"/>
            <a:ext cx="5014451" cy="3923070"/>
          </a:xfrm>
        </p:spPr>
        <p:txBody>
          <a:bodyPr>
            <a:normAutofit/>
          </a:bodyPr>
          <a:lstStyle/>
          <a:p>
            <a:pPr algn="l"/>
            <a:r>
              <a:rPr lang="en-IN" sz="2000" dirty="0">
                <a:solidFill>
                  <a:srgbClr val="C00000"/>
                </a:solidFill>
              </a:rPr>
              <a:t>Informed Decision </a:t>
            </a:r>
            <a:r>
              <a:rPr lang="en-IN" sz="2000" dirty="0">
                <a:solidFill>
                  <a:schemeClr val="bg2">
                    <a:lumMod val="10000"/>
                  </a:schemeClr>
                </a:solidFill>
              </a:rPr>
              <a:t>: Provides a data driven framework to buy,hold or sell.</a:t>
            </a:r>
          </a:p>
          <a:p>
            <a:pPr algn="l"/>
            <a:r>
              <a:rPr lang="en-IN" sz="2000" dirty="0">
                <a:solidFill>
                  <a:srgbClr val="C00000"/>
                </a:solidFill>
              </a:rPr>
              <a:t>Risk Management </a:t>
            </a:r>
            <a:r>
              <a:rPr lang="en-IN" sz="2000" dirty="0">
                <a:solidFill>
                  <a:schemeClr val="bg2">
                    <a:lumMod val="10000"/>
                  </a:schemeClr>
                </a:solidFill>
              </a:rPr>
              <a:t>: Helps identify trend reversals to preserve capital</a:t>
            </a:r>
          </a:p>
          <a:p>
            <a:pPr algn="l"/>
            <a:endParaRPr lang="en-IN" sz="2000" dirty="0">
              <a:solidFill>
                <a:schemeClr val="bg2">
                  <a:lumMod val="10000"/>
                </a:schemeClr>
              </a:solidFill>
            </a:endParaRPr>
          </a:p>
          <a:p>
            <a:pPr algn="l"/>
            <a:r>
              <a:rPr lang="en-IN" sz="2000" dirty="0">
                <a:solidFill>
                  <a:srgbClr val="C00000"/>
                </a:solidFill>
              </a:rPr>
              <a:t>Sector Rotation</a:t>
            </a:r>
            <a:r>
              <a:rPr lang="en-IN" sz="2000" dirty="0">
                <a:solidFill>
                  <a:schemeClr val="bg2">
                    <a:lumMod val="10000"/>
                  </a:schemeClr>
                </a:solidFill>
              </a:rPr>
              <a:t> : Identifies which sector are leading or lagging the market</a:t>
            </a:r>
          </a:p>
          <a:p>
            <a:pPr algn="l"/>
            <a:endParaRPr lang="en-IN" sz="2000" dirty="0">
              <a:solidFill>
                <a:schemeClr val="bg2">
                  <a:lumMod val="10000"/>
                </a:schemeClr>
              </a:solidFill>
            </a:endParaRPr>
          </a:p>
          <a:p>
            <a:pPr algn="l"/>
            <a:r>
              <a:rPr lang="en-IN" sz="2000" dirty="0">
                <a:solidFill>
                  <a:srgbClr val="C00000"/>
                </a:solidFill>
              </a:rPr>
              <a:t>Forecasting</a:t>
            </a:r>
            <a:r>
              <a:rPr lang="en-IN" sz="2000" dirty="0">
                <a:solidFill>
                  <a:schemeClr val="bg2">
                    <a:lumMod val="10000"/>
                  </a:schemeClr>
                </a:solidFill>
              </a:rPr>
              <a:t> : Sets realistic expectations for future returns and volatality</a:t>
            </a:r>
          </a:p>
        </p:txBody>
      </p:sp>
      <p:pic>
        <p:nvPicPr>
          <p:cNvPr id="5" name="Picture 4">
            <a:extLst>
              <a:ext uri="{FF2B5EF4-FFF2-40B4-BE49-F238E27FC236}">
                <a16:creationId xmlns:a16="http://schemas.microsoft.com/office/drawing/2014/main" id="{4062BE4F-1D01-3C0C-52BA-0415FC731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0529" y="2330246"/>
            <a:ext cx="3746090" cy="2920180"/>
          </a:xfrm>
          <a:prstGeom prst="rect">
            <a:avLst/>
          </a:prstGeom>
        </p:spPr>
      </p:pic>
    </p:spTree>
    <p:extLst>
      <p:ext uri="{BB962C8B-B14F-4D97-AF65-F5344CB8AC3E}">
        <p14:creationId xmlns:p14="http://schemas.microsoft.com/office/powerpoint/2010/main" val="3284975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3171-64BA-4ED5-BDB7-6AE493EB2993}"/>
              </a:ext>
            </a:extLst>
          </p:cNvPr>
          <p:cNvSpPr>
            <a:spLocks noGrp="1"/>
          </p:cNvSpPr>
          <p:nvPr>
            <p:ph type="ctrTitle"/>
          </p:nvPr>
        </p:nvSpPr>
        <p:spPr>
          <a:xfrm>
            <a:off x="1524000" y="934065"/>
            <a:ext cx="7750003" cy="1209367"/>
          </a:xfrm>
        </p:spPr>
        <p:txBody>
          <a:bodyPr/>
          <a:lstStyle/>
          <a:p>
            <a:pPr algn="l"/>
            <a:r>
              <a:rPr lang="en-IN" dirty="0"/>
              <a:t>Core Analysis Methodologies</a:t>
            </a:r>
          </a:p>
        </p:txBody>
      </p:sp>
      <p:sp>
        <p:nvSpPr>
          <p:cNvPr id="3" name="Subtitle 2">
            <a:extLst>
              <a:ext uri="{FF2B5EF4-FFF2-40B4-BE49-F238E27FC236}">
                <a16:creationId xmlns:a16="http://schemas.microsoft.com/office/drawing/2014/main" id="{DA5242D1-34ED-BA03-DCAE-D430AC856544}"/>
              </a:ext>
            </a:extLst>
          </p:cNvPr>
          <p:cNvSpPr>
            <a:spLocks noGrp="1"/>
          </p:cNvSpPr>
          <p:nvPr>
            <p:ph type="subTitle" idx="1"/>
          </p:nvPr>
        </p:nvSpPr>
        <p:spPr>
          <a:xfrm>
            <a:off x="1507067" y="2890685"/>
            <a:ext cx="6014610" cy="1823884"/>
          </a:xfrm>
        </p:spPr>
        <p:txBody>
          <a:bodyPr>
            <a:normAutofit/>
          </a:bodyPr>
          <a:lstStyle/>
          <a:p>
            <a:pPr algn="l"/>
            <a:r>
              <a:rPr lang="en-IN" sz="2400" dirty="0">
                <a:solidFill>
                  <a:schemeClr val="bg2">
                    <a:lumMod val="10000"/>
                  </a:schemeClr>
                </a:solidFill>
              </a:rPr>
              <a:t>Two primary schools of thought for evaluating market trends</a:t>
            </a:r>
          </a:p>
        </p:txBody>
      </p:sp>
    </p:spTree>
    <p:extLst>
      <p:ext uri="{BB962C8B-B14F-4D97-AF65-F5344CB8AC3E}">
        <p14:creationId xmlns:p14="http://schemas.microsoft.com/office/powerpoint/2010/main" val="3206761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8569-FC82-B5D4-FDD3-090AE1146665}"/>
              </a:ext>
            </a:extLst>
          </p:cNvPr>
          <p:cNvSpPr>
            <a:spLocks noGrp="1"/>
          </p:cNvSpPr>
          <p:nvPr>
            <p:ph type="ctrTitle"/>
          </p:nvPr>
        </p:nvSpPr>
        <p:spPr>
          <a:xfrm>
            <a:off x="521110" y="147485"/>
            <a:ext cx="9144000" cy="1042218"/>
          </a:xfrm>
        </p:spPr>
        <p:txBody>
          <a:bodyPr/>
          <a:lstStyle/>
          <a:p>
            <a:pPr algn="l"/>
            <a:r>
              <a:rPr lang="en-IN" dirty="0"/>
              <a:t>1. Fundamental Analysis</a:t>
            </a:r>
          </a:p>
        </p:txBody>
      </p:sp>
      <p:sp>
        <p:nvSpPr>
          <p:cNvPr id="3" name="Subtitle 2">
            <a:extLst>
              <a:ext uri="{FF2B5EF4-FFF2-40B4-BE49-F238E27FC236}">
                <a16:creationId xmlns:a16="http://schemas.microsoft.com/office/drawing/2014/main" id="{4B6AEDD7-4062-A9EF-3E45-CFFA62CD994B}"/>
              </a:ext>
            </a:extLst>
          </p:cNvPr>
          <p:cNvSpPr>
            <a:spLocks noGrp="1"/>
          </p:cNvSpPr>
          <p:nvPr>
            <p:ph type="subTitle" idx="1"/>
          </p:nvPr>
        </p:nvSpPr>
        <p:spPr>
          <a:xfrm>
            <a:off x="521110" y="1189703"/>
            <a:ext cx="8819535" cy="5520812"/>
          </a:xfrm>
        </p:spPr>
        <p:txBody>
          <a:bodyPr/>
          <a:lstStyle/>
          <a:p>
            <a:pPr algn="l"/>
            <a:r>
              <a:rPr lang="en-IN" dirty="0"/>
              <a:t> </a:t>
            </a:r>
            <a:r>
              <a:rPr lang="en-IN" sz="2000" dirty="0">
                <a:solidFill>
                  <a:schemeClr val="bg2">
                    <a:lumMod val="10000"/>
                  </a:schemeClr>
                </a:solidFill>
              </a:rPr>
              <a:t>Check whether the Company is Debt free or how fast it is Earning to clear its debts</a:t>
            </a:r>
          </a:p>
          <a:p>
            <a:pPr algn="l"/>
            <a:endParaRPr lang="en-IN" sz="2000" dirty="0">
              <a:solidFill>
                <a:schemeClr val="bg2">
                  <a:lumMod val="10000"/>
                </a:schemeClr>
              </a:solidFill>
            </a:endParaRPr>
          </a:p>
          <a:p>
            <a:pPr algn="l"/>
            <a:r>
              <a:rPr lang="en-IN" sz="2000" dirty="0">
                <a:solidFill>
                  <a:schemeClr val="bg2">
                    <a:lumMod val="10000"/>
                  </a:schemeClr>
                </a:solidFill>
              </a:rPr>
              <a:t>Check the P|E ratio (Profit to Earning ) is 15-20 not less or more</a:t>
            </a:r>
          </a:p>
          <a:p>
            <a:pPr algn="l"/>
            <a:endParaRPr lang="en-IN" sz="2000" dirty="0">
              <a:solidFill>
                <a:schemeClr val="bg2">
                  <a:lumMod val="10000"/>
                </a:schemeClr>
              </a:solidFill>
            </a:endParaRPr>
          </a:p>
          <a:p>
            <a:pPr algn="l"/>
            <a:r>
              <a:rPr lang="en-IN" sz="2000" dirty="0">
                <a:solidFill>
                  <a:schemeClr val="bg2">
                    <a:lumMod val="10000"/>
                  </a:schemeClr>
                </a:solidFill>
              </a:rPr>
              <a:t>By analysing  the balancesheet check how much profit is a company making per year to year , whether the money growing from investing or  operating activity, analyse the assets and check whether the company is investing much on current and non-current Liabilities</a:t>
            </a:r>
          </a:p>
          <a:p>
            <a:pPr algn="l"/>
            <a:endParaRPr lang="en-IN" sz="2000" dirty="0">
              <a:solidFill>
                <a:schemeClr val="bg2">
                  <a:lumMod val="10000"/>
                </a:schemeClr>
              </a:solidFill>
            </a:endParaRPr>
          </a:p>
          <a:p>
            <a:pPr algn="l"/>
            <a:r>
              <a:rPr lang="en-IN" sz="2000" dirty="0">
                <a:solidFill>
                  <a:schemeClr val="bg2">
                    <a:lumMod val="10000"/>
                  </a:schemeClr>
                </a:solidFill>
              </a:rPr>
              <a:t>Lastly check the Annual report by checking whether the company showing the profits are real or unreal .If all these conditions are met the company is strong enough to trade and invest</a:t>
            </a:r>
          </a:p>
          <a:p>
            <a:pPr algn="l"/>
            <a:endParaRPr lang="en-IN" dirty="0"/>
          </a:p>
        </p:txBody>
      </p:sp>
    </p:spTree>
    <p:extLst>
      <p:ext uri="{BB962C8B-B14F-4D97-AF65-F5344CB8AC3E}">
        <p14:creationId xmlns:p14="http://schemas.microsoft.com/office/powerpoint/2010/main" val="2304089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447C-F8CA-5479-8AEA-055917C77347}"/>
              </a:ext>
            </a:extLst>
          </p:cNvPr>
          <p:cNvSpPr>
            <a:spLocks noGrp="1"/>
          </p:cNvSpPr>
          <p:nvPr>
            <p:ph type="ctrTitle"/>
          </p:nvPr>
        </p:nvSpPr>
        <p:spPr>
          <a:xfrm>
            <a:off x="943898" y="245806"/>
            <a:ext cx="8298426" cy="1101213"/>
          </a:xfrm>
        </p:spPr>
        <p:txBody>
          <a:bodyPr/>
          <a:lstStyle/>
          <a:p>
            <a:pPr algn="l"/>
            <a:r>
              <a:rPr lang="en-IN" dirty="0"/>
              <a:t>2.Technical Analysis</a:t>
            </a:r>
          </a:p>
        </p:txBody>
      </p:sp>
      <p:sp>
        <p:nvSpPr>
          <p:cNvPr id="3" name="Subtitle 2">
            <a:extLst>
              <a:ext uri="{FF2B5EF4-FFF2-40B4-BE49-F238E27FC236}">
                <a16:creationId xmlns:a16="http://schemas.microsoft.com/office/drawing/2014/main" id="{1E810070-FB60-A24D-E108-25B65446FCDB}"/>
              </a:ext>
            </a:extLst>
          </p:cNvPr>
          <p:cNvSpPr>
            <a:spLocks noGrp="1"/>
          </p:cNvSpPr>
          <p:nvPr>
            <p:ph type="subTitle" idx="1"/>
          </p:nvPr>
        </p:nvSpPr>
        <p:spPr>
          <a:xfrm>
            <a:off x="412955" y="1700981"/>
            <a:ext cx="8829369" cy="4817806"/>
          </a:xfrm>
        </p:spPr>
        <p:txBody>
          <a:bodyPr>
            <a:normAutofit/>
          </a:bodyPr>
          <a:lstStyle/>
          <a:p>
            <a:pPr algn="l"/>
            <a:r>
              <a:rPr lang="en-IN" dirty="0">
                <a:solidFill>
                  <a:schemeClr val="accent5"/>
                </a:solidFill>
              </a:rPr>
              <a:t>Support</a:t>
            </a:r>
            <a:r>
              <a:rPr lang="en-IN" dirty="0">
                <a:solidFill>
                  <a:schemeClr val="bg2">
                    <a:lumMod val="10000"/>
                  </a:schemeClr>
                </a:solidFill>
              </a:rPr>
              <a:t> : </a:t>
            </a:r>
            <a:r>
              <a:rPr lang="en-US" dirty="0">
                <a:solidFill>
                  <a:schemeClr val="bg2">
                    <a:lumMod val="10000"/>
                  </a:schemeClr>
                </a:solidFill>
              </a:rPr>
              <a:t>A support level is a price point at which an asset struggles to fall below over a set period, created by buyers entering the market at lower prices. This concept is visualized by drawing a line connecting the lowest lows on a chart.</a:t>
            </a:r>
          </a:p>
          <a:p>
            <a:pPr algn="l"/>
            <a:endParaRPr lang="en-US" dirty="0">
              <a:solidFill>
                <a:schemeClr val="bg2">
                  <a:lumMod val="10000"/>
                </a:schemeClr>
              </a:solidFill>
            </a:endParaRPr>
          </a:p>
          <a:p>
            <a:pPr algn="l"/>
            <a:r>
              <a:rPr lang="en-US" dirty="0">
                <a:solidFill>
                  <a:schemeClr val="accent5"/>
                </a:solidFill>
              </a:rPr>
              <a:t>Resistance</a:t>
            </a:r>
            <a:r>
              <a:rPr lang="en-US" dirty="0">
                <a:solidFill>
                  <a:schemeClr val="bg2">
                    <a:lumMod val="10000"/>
                  </a:schemeClr>
                </a:solidFill>
              </a:rPr>
              <a:t>: Resistance is a foundational concept in technical analysis  with levels identified through chart analysis and trading tools. resistance zone represents a test of the resistance level, which may be broken by a small amount, but ultimately turns back the price advance, leaving the resistance level essentially intact.</a:t>
            </a:r>
          </a:p>
          <a:p>
            <a:pPr algn="l"/>
            <a:endParaRPr lang="en-US" dirty="0">
              <a:solidFill>
                <a:schemeClr val="bg2">
                  <a:lumMod val="10000"/>
                </a:schemeClr>
              </a:solidFill>
            </a:endParaRPr>
          </a:p>
          <a:p>
            <a:pPr algn="l"/>
            <a:r>
              <a:rPr lang="en-US" dirty="0">
                <a:solidFill>
                  <a:schemeClr val="accent5"/>
                </a:solidFill>
              </a:rPr>
              <a:t>Stop Loss</a:t>
            </a:r>
            <a:r>
              <a:rPr lang="en-US" dirty="0">
                <a:solidFill>
                  <a:schemeClr val="bg2">
                    <a:lumMod val="10000"/>
                  </a:schemeClr>
                </a:solidFill>
              </a:rPr>
              <a:t>: </a:t>
            </a:r>
            <a:r>
              <a:rPr lang="en-US" u="sng" dirty="0">
                <a:solidFill>
                  <a:schemeClr val="bg2">
                    <a:lumMod val="10000"/>
                  </a:schemeClr>
                </a:solidFill>
                <a:hlinkClick r:id="rId2">
                  <a:extLst>
                    <a:ext uri="{A12FA001-AC4F-418D-AE19-62706E023703}">
                      <ahyp:hlinkClr xmlns:ahyp="http://schemas.microsoft.com/office/drawing/2018/hyperlinkcolor" val="tx"/>
                    </a:ext>
                  </a:extLst>
                </a:hlinkClick>
              </a:rPr>
              <a:t>Stop-loss orders</a:t>
            </a:r>
            <a:r>
              <a:rPr lang="en-US" dirty="0">
                <a:solidFill>
                  <a:schemeClr val="bg2">
                    <a:lumMod val="10000"/>
                  </a:schemeClr>
                </a:solidFill>
              </a:rPr>
              <a:t> are among the best risk management tools, automating trades that limit potential losses and protect your money. When used well, a stop-loss order can make a world of difference. And just about any investor can benefit from this tool.</a:t>
            </a:r>
            <a:endParaRPr lang="en-IN" dirty="0">
              <a:solidFill>
                <a:schemeClr val="bg2">
                  <a:lumMod val="10000"/>
                </a:schemeClr>
              </a:solidFill>
            </a:endParaRPr>
          </a:p>
        </p:txBody>
      </p:sp>
    </p:spTree>
    <p:extLst>
      <p:ext uri="{BB962C8B-B14F-4D97-AF65-F5344CB8AC3E}">
        <p14:creationId xmlns:p14="http://schemas.microsoft.com/office/powerpoint/2010/main" val="162480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5E54F-B47A-BCF5-2A71-D836FF7FF232}"/>
              </a:ext>
            </a:extLst>
          </p:cNvPr>
          <p:cNvSpPr>
            <a:spLocks noGrp="1"/>
          </p:cNvSpPr>
          <p:nvPr>
            <p:ph type="title"/>
          </p:nvPr>
        </p:nvSpPr>
        <p:spPr/>
        <p:txBody>
          <a:bodyPr/>
          <a:lstStyle/>
          <a:p>
            <a:r>
              <a:rPr lang="en-IN" dirty="0"/>
              <a:t>Linear Regression in Machine Learning</a:t>
            </a:r>
          </a:p>
        </p:txBody>
      </p:sp>
      <p:sp>
        <p:nvSpPr>
          <p:cNvPr id="3" name="Content Placeholder 2">
            <a:extLst>
              <a:ext uri="{FF2B5EF4-FFF2-40B4-BE49-F238E27FC236}">
                <a16:creationId xmlns:a16="http://schemas.microsoft.com/office/drawing/2014/main" id="{0C7F88D0-7101-C021-DA30-E8CEA08F9039}"/>
              </a:ext>
            </a:extLst>
          </p:cNvPr>
          <p:cNvSpPr>
            <a:spLocks noGrp="1"/>
          </p:cNvSpPr>
          <p:nvPr>
            <p:ph idx="1"/>
          </p:nvPr>
        </p:nvSpPr>
        <p:spPr>
          <a:xfrm>
            <a:off x="596494" y="1825624"/>
            <a:ext cx="5941958" cy="4742323"/>
          </a:xfrm>
        </p:spPr>
        <p:txBody>
          <a:bodyPr/>
          <a:lstStyle/>
          <a:p>
            <a:r>
              <a:rPr lang="en-US" sz="2000" dirty="0"/>
              <a:t>Linear regression is the analysis of two separate variables to define a single relationship and is a useful measure for technical and quantitative analysis in financial markets. </a:t>
            </a:r>
          </a:p>
          <a:p>
            <a:r>
              <a:rPr lang="en-US" sz="2000" dirty="0"/>
              <a:t>Plotting stock prices along a normal distribution—bell curve—can allow traders to see when a stock is overbought or oversold. </a:t>
            </a:r>
          </a:p>
          <a:p>
            <a:r>
              <a:rPr lang="en-US" sz="2000" dirty="0"/>
              <a:t>Using linear regression, a trader can identify key price points—entry price, stop-loss price, and exit prices.</a:t>
            </a:r>
          </a:p>
          <a:p>
            <a:r>
              <a:rPr lang="en-US" sz="2000" dirty="0"/>
              <a:t>A stock's price and time period determine the system parameters for linear regression, making the method universally applicable.</a:t>
            </a:r>
          </a:p>
          <a:p>
            <a:pPr marL="0" indent="0">
              <a:buNone/>
            </a:pPr>
            <a:endParaRPr lang="en-IN" dirty="0"/>
          </a:p>
        </p:txBody>
      </p:sp>
      <p:pic>
        <p:nvPicPr>
          <p:cNvPr id="5" name="Picture 4">
            <a:extLst>
              <a:ext uri="{FF2B5EF4-FFF2-40B4-BE49-F238E27FC236}">
                <a16:creationId xmlns:a16="http://schemas.microsoft.com/office/drawing/2014/main" id="{A485257E-5C15-2E97-2960-620F51298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8452" y="1930399"/>
            <a:ext cx="2735550" cy="3546169"/>
          </a:xfrm>
          <a:prstGeom prst="rect">
            <a:avLst/>
          </a:prstGeom>
        </p:spPr>
      </p:pic>
    </p:spTree>
    <p:extLst>
      <p:ext uri="{BB962C8B-B14F-4D97-AF65-F5344CB8AC3E}">
        <p14:creationId xmlns:p14="http://schemas.microsoft.com/office/powerpoint/2010/main" val="4024470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2E166-7758-58A8-56F5-5792B4C229E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DC0BFF-B45F-380B-A25F-1B45CD79E47B}"/>
              </a:ext>
            </a:extLst>
          </p:cNvPr>
          <p:cNvSpPr>
            <a:spLocks noGrp="1"/>
          </p:cNvSpPr>
          <p:nvPr>
            <p:ph type="subTitle" idx="1"/>
          </p:nvPr>
        </p:nvSpPr>
        <p:spPr>
          <a:xfrm>
            <a:off x="457200" y="795528"/>
            <a:ext cx="11192256" cy="5797296"/>
          </a:xfrm>
        </p:spPr>
        <p:txBody>
          <a:bodyPr/>
          <a:lstStyle/>
          <a:p>
            <a:endParaRPr lang="en-IN" dirty="0"/>
          </a:p>
        </p:txBody>
      </p:sp>
      <p:graphicFrame>
        <p:nvGraphicFramePr>
          <p:cNvPr id="4" name="Table 3">
            <a:extLst>
              <a:ext uri="{FF2B5EF4-FFF2-40B4-BE49-F238E27FC236}">
                <a16:creationId xmlns:a16="http://schemas.microsoft.com/office/drawing/2014/main" id="{2B32EAFF-616B-F0A2-C486-14695CB820AC}"/>
              </a:ext>
            </a:extLst>
          </p:cNvPr>
          <p:cNvGraphicFramePr>
            <a:graphicFrameLocks noGrp="1"/>
          </p:cNvGraphicFramePr>
          <p:nvPr>
            <p:extLst>
              <p:ext uri="{D42A27DB-BD31-4B8C-83A1-F6EECF244321}">
                <p14:modId xmlns:p14="http://schemas.microsoft.com/office/powerpoint/2010/main" val="108418016"/>
              </p:ext>
            </p:extLst>
          </p:nvPr>
        </p:nvGraphicFramePr>
        <p:xfrm>
          <a:off x="619432" y="795528"/>
          <a:ext cx="10719129" cy="5615779"/>
        </p:xfrm>
        <a:graphic>
          <a:graphicData uri="http://schemas.openxmlformats.org/drawingml/2006/table">
            <a:tbl>
              <a:tblPr firstRow="1" bandRow="1">
                <a:tableStyleId>{5C22544A-7EE6-4342-B048-85BDC9FD1C3A}</a:tableStyleId>
              </a:tblPr>
              <a:tblGrid>
                <a:gridCol w="1101608">
                  <a:extLst>
                    <a:ext uri="{9D8B030D-6E8A-4147-A177-3AD203B41FA5}">
                      <a16:colId xmlns:a16="http://schemas.microsoft.com/office/drawing/2014/main" val="1907543389"/>
                    </a:ext>
                  </a:extLst>
                </a:gridCol>
                <a:gridCol w="1685940">
                  <a:extLst>
                    <a:ext uri="{9D8B030D-6E8A-4147-A177-3AD203B41FA5}">
                      <a16:colId xmlns:a16="http://schemas.microsoft.com/office/drawing/2014/main" val="3676163372"/>
                    </a:ext>
                  </a:extLst>
                </a:gridCol>
                <a:gridCol w="2202152">
                  <a:extLst>
                    <a:ext uri="{9D8B030D-6E8A-4147-A177-3AD203B41FA5}">
                      <a16:colId xmlns:a16="http://schemas.microsoft.com/office/drawing/2014/main" val="2705247865"/>
                    </a:ext>
                  </a:extLst>
                </a:gridCol>
                <a:gridCol w="3132399">
                  <a:extLst>
                    <a:ext uri="{9D8B030D-6E8A-4147-A177-3AD203B41FA5}">
                      <a16:colId xmlns:a16="http://schemas.microsoft.com/office/drawing/2014/main" val="703895366"/>
                    </a:ext>
                  </a:extLst>
                </a:gridCol>
                <a:gridCol w="2597030">
                  <a:extLst>
                    <a:ext uri="{9D8B030D-6E8A-4147-A177-3AD203B41FA5}">
                      <a16:colId xmlns:a16="http://schemas.microsoft.com/office/drawing/2014/main" val="3336383884"/>
                    </a:ext>
                  </a:extLst>
                </a:gridCol>
              </a:tblGrid>
              <a:tr h="620099">
                <a:tc>
                  <a:txBody>
                    <a:bodyPr/>
                    <a:lstStyle/>
                    <a:p>
                      <a:r>
                        <a:rPr lang="en-IN" dirty="0"/>
                        <a:t>year</a:t>
                      </a:r>
                    </a:p>
                  </a:txBody>
                  <a:tcPr/>
                </a:tc>
                <a:tc>
                  <a:txBody>
                    <a:bodyPr/>
                    <a:lstStyle/>
                    <a:p>
                      <a:r>
                        <a:rPr lang="en-IN" dirty="0"/>
                        <a:t>Title of the paper</a:t>
                      </a:r>
                    </a:p>
                  </a:txBody>
                  <a:tcPr/>
                </a:tc>
                <a:tc>
                  <a:txBody>
                    <a:bodyPr/>
                    <a:lstStyle/>
                    <a:p>
                      <a:r>
                        <a:rPr lang="en-IN" dirty="0"/>
                        <a:t>Author</a:t>
                      </a:r>
                    </a:p>
                  </a:txBody>
                  <a:tcPr/>
                </a:tc>
                <a:tc>
                  <a:txBody>
                    <a:bodyPr/>
                    <a:lstStyle/>
                    <a:p>
                      <a:r>
                        <a:rPr lang="en-IN" dirty="0"/>
                        <a:t>       Abstract</a:t>
                      </a:r>
                    </a:p>
                  </a:txBody>
                  <a:tcPr/>
                </a:tc>
                <a:tc>
                  <a:txBody>
                    <a:bodyPr/>
                    <a:lstStyle/>
                    <a:p>
                      <a:r>
                        <a:rPr lang="en-IN" dirty="0"/>
                        <a:t>  Limitations</a:t>
                      </a:r>
                    </a:p>
                  </a:txBody>
                  <a:tcPr/>
                </a:tc>
                <a:extLst>
                  <a:ext uri="{0D108BD9-81ED-4DB2-BD59-A6C34878D82A}">
                    <a16:rowId xmlns:a16="http://schemas.microsoft.com/office/drawing/2014/main" val="3607109882"/>
                  </a:ext>
                </a:extLst>
              </a:tr>
              <a:tr h="4975699">
                <a:tc>
                  <a:txBody>
                    <a:bodyPr/>
                    <a:lstStyle/>
                    <a:p>
                      <a:endParaRPr lang="en-IN" dirty="0"/>
                    </a:p>
                    <a:p>
                      <a:r>
                        <a:rPr lang="en-IN" dirty="0"/>
                        <a:t>2023</a:t>
                      </a:r>
                    </a:p>
                  </a:txBody>
                  <a:tcPr/>
                </a:tc>
                <a:tc>
                  <a:txBody>
                    <a:bodyPr/>
                    <a:lstStyle/>
                    <a:p>
                      <a:r>
                        <a:rPr lang="en-US" dirty="0"/>
                        <a:t>Understanding Stock Market Trends Using Simple Moving Average (SMA) And Exponential Moving Average (EMA) Indicators</a:t>
                      </a:r>
                      <a:endParaRPr lang="en-IN" dirty="0"/>
                    </a:p>
                  </a:txBody>
                  <a:tcPr/>
                </a:tc>
                <a:tc>
                  <a:txBody>
                    <a:bodyPr/>
                    <a:lstStyle/>
                    <a:p>
                      <a:r>
                        <a:rPr lang="en-IN" dirty="0"/>
                        <a:t>Ananta Ojha ,</a:t>
                      </a:r>
                    </a:p>
                    <a:p>
                      <a:r>
                        <a:rPr lang="en-IN" dirty="0"/>
                        <a:t>Vineet Saxena.</a:t>
                      </a:r>
                    </a:p>
                  </a:txBody>
                  <a:tcPr/>
                </a:tc>
                <a:tc>
                  <a:txBody>
                    <a:bodyPr/>
                    <a:lstStyle/>
                    <a:p>
                      <a:r>
                        <a:rPr lang="en-US" dirty="0"/>
                        <a:t>Understanding stock market trends is essential for traders and investors to make informed decisions. This study focuses on analyzing stock price movements using two widely used technical indicators: </a:t>
                      </a:r>
                      <a:r>
                        <a:rPr lang="en-US" b="1" dirty="0"/>
                        <a:t>Simple Moving Average (SMA)</a:t>
                      </a:r>
                      <a:r>
                        <a:rPr lang="en-US" dirty="0"/>
                        <a:t> and </a:t>
                      </a:r>
                      <a:r>
                        <a:rPr lang="en-US" b="1" dirty="0"/>
                        <a:t>Exponential Moving Average (EMA)</a:t>
                      </a:r>
                      <a:r>
                        <a:rPr lang="en-US" dirty="0"/>
                        <a:t>.</a:t>
                      </a:r>
                      <a:endParaRPr lang="en-IN" dirty="0"/>
                    </a:p>
                  </a:txBody>
                  <a:tcPr/>
                </a:tc>
                <a:tc>
                  <a:txBody>
                    <a:bodyPr/>
                    <a:lstStyle/>
                    <a:p>
                      <a:r>
                        <a:rPr lang="en-US" b="1" dirty="0"/>
                        <a:t>Lagging Nature of Moving Averages</a:t>
                      </a:r>
                      <a:br>
                        <a:rPr lang="en-US" dirty="0"/>
                      </a:br>
                      <a:r>
                        <a:rPr lang="en-US" dirty="0"/>
                        <a:t>Both SMA and EMA rely on historical data, causing delayed responses to sudden price changes.</a:t>
                      </a:r>
                    </a:p>
                    <a:p>
                      <a:r>
                        <a:rPr lang="en-US" b="1" dirty="0"/>
                        <a:t>Inefficiency in High-Volatility Markets</a:t>
                      </a:r>
                      <a:br>
                        <a:rPr lang="en-US" dirty="0"/>
                      </a:br>
                      <a:r>
                        <a:rPr lang="en-US" dirty="0"/>
                        <a:t>Rapid price fluctuations may generate false signals or misleading crossovers.</a:t>
                      </a:r>
                    </a:p>
                    <a:p>
                      <a:endParaRPr lang="en-US" dirty="0"/>
                    </a:p>
                    <a:p>
                      <a:endParaRPr lang="en-IN" dirty="0"/>
                    </a:p>
                  </a:txBody>
                  <a:tcPr/>
                </a:tc>
                <a:extLst>
                  <a:ext uri="{0D108BD9-81ED-4DB2-BD59-A6C34878D82A}">
                    <a16:rowId xmlns:a16="http://schemas.microsoft.com/office/drawing/2014/main" val="306523719"/>
                  </a:ext>
                </a:extLst>
              </a:tr>
            </a:tbl>
          </a:graphicData>
        </a:graphic>
      </p:graphicFrame>
      <p:sp>
        <p:nvSpPr>
          <p:cNvPr id="2" name="TextBox 1">
            <a:extLst>
              <a:ext uri="{FF2B5EF4-FFF2-40B4-BE49-F238E27FC236}">
                <a16:creationId xmlns:a16="http://schemas.microsoft.com/office/drawing/2014/main" id="{73357DD3-1BB1-8BB3-380E-392CBC22A124}"/>
              </a:ext>
            </a:extLst>
          </p:cNvPr>
          <p:cNvSpPr txBox="1"/>
          <p:nvPr/>
        </p:nvSpPr>
        <p:spPr>
          <a:xfrm>
            <a:off x="619432" y="164592"/>
            <a:ext cx="6147128" cy="584775"/>
          </a:xfrm>
          <a:prstGeom prst="rect">
            <a:avLst/>
          </a:prstGeom>
          <a:noFill/>
        </p:spPr>
        <p:txBody>
          <a:bodyPr wrap="square" rtlCol="0">
            <a:spAutoFit/>
          </a:bodyPr>
          <a:lstStyle/>
          <a:p>
            <a:r>
              <a:rPr lang="en-IN" sz="3200" dirty="0">
                <a:solidFill>
                  <a:schemeClr val="accent1"/>
                </a:solidFill>
              </a:rPr>
              <a:t>LITERATURE SURVEY</a:t>
            </a:r>
          </a:p>
        </p:txBody>
      </p:sp>
    </p:spTree>
    <p:extLst>
      <p:ext uri="{BB962C8B-B14F-4D97-AF65-F5344CB8AC3E}">
        <p14:creationId xmlns:p14="http://schemas.microsoft.com/office/powerpoint/2010/main" val="2674254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A099B-E645-D4D8-CD7B-FD29901B290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1B950A1-A2DB-E40E-9C9E-B2537D6C33E7}"/>
              </a:ext>
            </a:extLst>
          </p:cNvPr>
          <p:cNvSpPr>
            <a:spLocks noGrp="1"/>
          </p:cNvSpPr>
          <p:nvPr>
            <p:ph type="subTitle" idx="1"/>
          </p:nvPr>
        </p:nvSpPr>
        <p:spPr>
          <a:xfrm>
            <a:off x="365760" y="137160"/>
            <a:ext cx="11283696" cy="6455664"/>
          </a:xfrm>
        </p:spPr>
        <p:txBody>
          <a:bodyPr/>
          <a:lstStyle/>
          <a:p>
            <a:endParaRPr lang="en-IN" dirty="0"/>
          </a:p>
        </p:txBody>
      </p:sp>
      <p:graphicFrame>
        <p:nvGraphicFramePr>
          <p:cNvPr id="4" name="Table 3">
            <a:extLst>
              <a:ext uri="{FF2B5EF4-FFF2-40B4-BE49-F238E27FC236}">
                <a16:creationId xmlns:a16="http://schemas.microsoft.com/office/drawing/2014/main" id="{4828327F-3B86-E753-3D2C-95345661B2B4}"/>
              </a:ext>
            </a:extLst>
          </p:cNvPr>
          <p:cNvGraphicFramePr>
            <a:graphicFrameLocks noGrp="1"/>
          </p:cNvGraphicFramePr>
          <p:nvPr>
            <p:extLst>
              <p:ext uri="{D42A27DB-BD31-4B8C-83A1-F6EECF244321}">
                <p14:modId xmlns:p14="http://schemas.microsoft.com/office/powerpoint/2010/main" val="2018992560"/>
              </p:ext>
            </p:extLst>
          </p:nvPr>
        </p:nvGraphicFramePr>
        <p:xfrm>
          <a:off x="639096" y="265176"/>
          <a:ext cx="11010361" cy="5742334"/>
        </p:xfrm>
        <a:graphic>
          <a:graphicData uri="http://schemas.openxmlformats.org/drawingml/2006/table">
            <a:tbl>
              <a:tblPr firstRow="1" bandRow="1">
                <a:tableStyleId>{5C22544A-7EE6-4342-B048-85BDC9FD1C3A}</a:tableStyleId>
              </a:tblPr>
              <a:tblGrid>
                <a:gridCol w="1131538">
                  <a:extLst>
                    <a:ext uri="{9D8B030D-6E8A-4147-A177-3AD203B41FA5}">
                      <a16:colId xmlns:a16="http://schemas.microsoft.com/office/drawing/2014/main" val="1907543389"/>
                    </a:ext>
                  </a:extLst>
                </a:gridCol>
                <a:gridCol w="1731746">
                  <a:extLst>
                    <a:ext uri="{9D8B030D-6E8A-4147-A177-3AD203B41FA5}">
                      <a16:colId xmlns:a16="http://schemas.microsoft.com/office/drawing/2014/main" val="3676163372"/>
                    </a:ext>
                  </a:extLst>
                </a:gridCol>
                <a:gridCol w="2261983">
                  <a:extLst>
                    <a:ext uri="{9D8B030D-6E8A-4147-A177-3AD203B41FA5}">
                      <a16:colId xmlns:a16="http://schemas.microsoft.com/office/drawing/2014/main" val="2705247865"/>
                    </a:ext>
                  </a:extLst>
                </a:gridCol>
                <a:gridCol w="3217504">
                  <a:extLst>
                    <a:ext uri="{9D8B030D-6E8A-4147-A177-3AD203B41FA5}">
                      <a16:colId xmlns:a16="http://schemas.microsoft.com/office/drawing/2014/main" val="703895366"/>
                    </a:ext>
                  </a:extLst>
                </a:gridCol>
                <a:gridCol w="2667590">
                  <a:extLst>
                    <a:ext uri="{9D8B030D-6E8A-4147-A177-3AD203B41FA5}">
                      <a16:colId xmlns:a16="http://schemas.microsoft.com/office/drawing/2014/main" val="3336383884"/>
                    </a:ext>
                  </a:extLst>
                </a:gridCol>
              </a:tblGrid>
              <a:tr h="681293">
                <a:tc>
                  <a:txBody>
                    <a:bodyPr/>
                    <a:lstStyle/>
                    <a:p>
                      <a:r>
                        <a:rPr lang="en-IN" dirty="0"/>
                        <a:t>year</a:t>
                      </a:r>
                    </a:p>
                  </a:txBody>
                  <a:tcPr/>
                </a:tc>
                <a:tc>
                  <a:txBody>
                    <a:bodyPr/>
                    <a:lstStyle/>
                    <a:p>
                      <a:r>
                        <a:rPr lang="en-IN" dirty="0"/>
                        <a:t>Title of the paper</a:t>
                      </a:r>
                    </a:p>
                  </a:txBody>
                  <a:tcPr/>
                </a:tc>
                <a:tc>
                  <a:txBody>
                    <a:bodyPr/>
                    <a:lstStyle/>
                    <a:p>
                      <a:r>
                        <a:rPr lang="en-IN" dirty="0"/>
                        <a:t>Author</a:t>
                      </a:r>
                    </a:p>
                  </a:txBody>
                  <a:tcPr/>
                </a:tc>
                <a:tc>
                  <a:txBody>
                    <a:bodyPr/>
                    <a:lstStyle/>
                    <a:p>
                      <a:r>
                        <a:rPr lang="en-IN" dirty="0"/>
                        <a:t>       Abstract</a:t>
                      </a:r>
                    </a:p>
                  </a:txBody>
                  <a:tcPr/>
                </a:tc>
                <a:tc>
                  <a:txBody>
                    <a:bodyPr/>
                    <a:lstStyle/>
                    <a:p>
                      <a:r>
                        <a:rPr lang="en-IN" dirty="0"/>
                        <a:t>  Limitations</a:t>
                      </a:r>
                    </a:p>
                  </a:txBody>
                  <a:tcPr/>
                </a:tc>
                <a:extLst>
                  <a:ext uri="{0D108BD9-81ED-4DB2-BD59-A6C34878D82A}">
                    <a16:rowId xmlns:a16="http://schemas.microsoft.com/office/drawing/2014/main" val="3607109882"/>
                  </a:ext>
                </a:extLst>
              </a:tr>
              <a:tr h="5061041">
                <a:tc>
                  <a:txBody>
                    <a:bodyPr/>
                    <a:lstStyle/>
                    <a:p>
                      <a:endParaRPr lang="en-IN" dirty="0"/>
                    </a:p>
                    <a:p>
                      <a:r>
                        <a:rPr lang="en-IN" dirty="0"/>
                        <a:t>2024</a:t>
                      </a:r>
                    </a:p>
                  </a:txBody>
                  <a:tcPr/>
                </a:tc>
                <a:tc>
                  <a:txBody>
                    <a:bodyPr/>
                    <a:lstStyle/>
                    <a:p>
                      <a:r>
                        <a:rPr lang="en-US" dirty="0"/>
                        <a:t>Stock Market Trend Prediction Model using Deep Learning based Sentiment Analysis of Financial Data</a:t>
                      </a:r>
                      <a:endParaRPr lang="en-IN" dirty="0"/>
                    </a:p>
                  </a:txBody>
                  <a:tcPr/>
                </a:tc>
                <a:tc>
                  <a:txBody>
                    <a:bodyPr/>
                    <a:lstStyle/>
                    <a:p>
                      <a:r>
                        <a:rPr lang="en-IN" dirty="0"/>
                        <a:t>Anupa Sekhar Dash ,</a:t>
                      </a:r>
                    </a:p>
                    <a:p>
                      <a:r>
                        <a:rPr lang="en-IN" dirty="0"/>
                        <a:t>Ujjwal Mishra.</a:t>
                      </a:r>
                    </a:p>
                    <a:p>
                      <a:r>
                        <a:rPr lang="en-IN" dirty="0"/>
                        <a:t> </a:t>
                      </a:r>
                    </a:p>
                  </a:txBody>
                  <a:tcPr/>
                </a:tc>
                <a:tc>
                  <a:txBody>
                    <a:bodyPr/>
                    <a:lstStyle/>
                    <a:p>
                      <a:r>
                        <a:rPr lang="en-US" dirty="0"/>
                        <a:t>Stock market trend prediction has become a crucial area of research as financial markets grow increasingly complex and influenced by multiple factors. This study proposes a </a:t>
                      </a:r>
                      <a:r>
                        <a:rPr lang="en-US" b="1" dirty="0"/>
                        <a:t>Deep Learning–based sentiment analysis model</a:t>
                      </a:r>
                      <a:r>
                        <a:rPr lang="en-US" dirty="0"/>
                        <a:t> integrated with historical financial data to predict future stock market trends.</a:t>
                      </a:r>
                      <a:endParaRPr lang="en-IN" dirty="0"/>
                    </a:p>
                  </a:txBody>
                  <a:tcPr/>
                </a:tc>
                <a:tc>
                  <a:txBody>
                    <a:bodyPr/>
                    <a:lstStyle/>
                    <a:p>
                      <a:r>
                        <a:rPr lang="en-US" b="1" dirty="0"/>
                        <a:t>High Market Volatility</a:t>
                      </a:r>
                      <a:br>
                        <a:rPr lang="en-US" dirty="0"/>
                      </a:br>
                      <a:r>
                        <a:rPr lang="en-US" dirty="0"/>
                        <a:t>Sudden economic, political, or global events  cannot be fully captured by deep learning models.</a:t>
                      </a:r>
                    </a:p>
                    <a:p>
                      <a:r>
                        <a:rPr lang="en-US" b="1" dirty="0"/>
                        <a:t>Data Quality and Reliability</a:t>
                      </a:r>
                      <a:br>
                        <a:rPr lang="en-US" dirty="0"/>
                      </a:br>
                      <a:r>
                        <a:rPr lang="en-US" dirty="0"/>
                        <a:t>Sentiment data from social media may include biased opinions, spam, or manipulated content, affecting prediction accuracy.</a:t>
                      </a:r>
                    </a:p>
                    <a:p>
                      <a:endParaRPr lang="en-US" dirty="0"/>
                    </a:p>
                    <a:p>
                      <a:endParaRPr lang="en-IN" dirty="0"/>
                    </a:p>
                  </a:txBody>
                  <a:tcPr/>
                </a:tc>
                <a:extLst>
                  <a:ext uri="{0D108BD9-81ED-4DB2-BD59-A6C34878D82A}">
                    <a16:rowId xmlns:a16="http://schemas.microsoft.com/office/drawing/2014/main" val="306523719"/>
                  </a:ext>
                </a:extLst>
              </a:tr>
            </a:tbl>
          </a:graphicData>
        </a:graphic>
      </p:graphicFrame>
    </p:spTree>
    <p:extLst>
      <p:ext uri="{BB962C8B-B14F-4D97-AF65-F5344CB8AC3E}">
        <p14:creationId xmlns:p14="http://schemas.microsoft.com/office/powerpoint/2010/main" val="291141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1D38-3DE3-2D6A-4E8F-204562C5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4252A-4548-BFDA-A0B6-EEBC28CF6DF3}"/>
              </a:ext>
            </a:extLst>
          </p:cNvPr>
          <p:cNvSpPr>
            <a:spLocks noGrp="1"/>
          </p:cNvSpPr>
          <p:nvPr>
            <p:ph type="title"/>
          </p:nvPr>
        </p:nvSpPr>
        <p:spPr>
          <a:xfrm>
            <a:off x="275303" y="0"/>
            <a:ext cx="11759381" cy="6728461"/>
          </a:xfrm>
        </p:spPr>
        <p:txBody>
          <a:bodyPr>
            <a:normAutofit/>
          </a:bodyPr>
          <a:lstStyle/>
          <a:p>
            <a:pPr algn="ctr"/>
            <a:endParaRPr lang="en-IN" sz="7200" dirty="0"/>
          </a:p>
        </p:txBody>
      </p:sp>
      <p:sp>
        <p:nvSpPr>
          <p:cNvPr id="3" name="Subtitle 2">
            <a:extLst>
              <a:ext uri="{FF2B5EF4-FFF2-40B4-BE49-F238E27FC236}">
                <a16:creationId xmlns:a16="http://schemas.microsoft.com/office/drawing/2014/main" id="{78BBE51D-6DF5-7736-EA80-9A653C6497F8}"/>
              </a:ext>
            </a:extLst>
          </p:cNvPr>
          <p:cNvSpPr txBox="1">
            <a:spLocks/>
          </p:cNvSpPr>
          <p:nvPr/>
        </p:nvSpPr>
        <p:spPr>
          <a:xfrm>
            <a:off x="426720" y="129540"/>
            <a:ext cx="11283696" cy="6455664"/>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4800" dirty="0">
                <a:solidFill>
                  <a:schemeClr val="accent1"/>
                </a:solidFill>
              </a:rPr>
              <a:t>LITERATURE SURVEY</a:t>
            </a:r>
          </a:p>
        </p:txBody>
      </p:sp>
      <p:graphicFrame>
        <p:nvGraphicFramePr>
          <p:cNvPr id="4" name="Table 3">
            <a:extLst>
              <a:ext uri="{FF2B5EF4-FFF2-40B4-BE49-F238E27FC236}">
                <a16:creationId xmlns:a16="http://schemas.microsoft.com/office/drawing/2014/main" id="{B07F1FF7-A4F7-C983-145B-301720F6EEDF}"/>
              </a:ext>
            </a:extLst>
          </p:cNvPr>
          <p:cNvGraphicFramePr>
            <a:graphicFrameLocks noGrp="1"/>
          </p:cNvGraphicFramePr>
          <p:nvPr>
            <p:extLst>
              <p:ext uri="{D42A27DB-BD31-4B8C-83A1-F6EECF244321}">
                <p14:modId xmlns:p14="http://schemas.microsoft.com/office/powerpoint/2010/main" val="3500214822"/>
              </p:ext>
            </p:extLst>
          </p:nvPr>
        </p:nvGraphicFramePr>
        <p:xfrm>
          <a:off x="609600" y="1071716"/>
          <a:ext cx="11100816" cy="5270090"/>
        </p:xfrm>
        <a:graphic>
          <a:graphicData uri="http://schemas.openxmlformats.org/drawingml/2006/table">
            <a:tbl>
              <a:tblPr firstRow="1" bandRow="1">
                <a:tableStyleId>{5C22544A-7EE6-4342-B048-85BDC9FD1C3A}</a:tableStyleId>
              </a:tblPr>
              <a:tblGrid>
                <a:gridCol w="1140835">
                  <a:extLst>
                    <a:ext uri="{9D8B030D-6E8A-4147-A177-3AD203B41FA5}">
                      <a16:colId xmlns:a16="http://schemas.microsoft.com/office/drawing/2014/main" val="1907543389"/>
                    </a:ext>
                  </a:extLst>
                </a:gridCol>
                <a:gridCol w="1745972">
                  <a:extLst>
                    <a:ext uri="{9D8B030D-6E8A-4147-A177-3AD203B41FA5}">
                      <a16:colId xmlns:a16="http://schemas.microsoft.com/office/drawing/2014/main" val="3676163372"/>
                    </a:ext>
                  </a:extLst>
                </a:gridCol>
                <a:gridCol w="2280566">
                  <a:extLst>
                    <a:ext uri="{9D8B030D-6E8A-4147-A177-3AD203B41FA5}">
                      <a16:colId xmlns:a16="http://schemas.microsoft.com/office/drawing/2014/main" val="2705247865"/>
                    </a:ext>
                  </a:extLst>
                </a:gridCol>
                <a:gridCol w="3243938">
                  <a:extLst>
                    <a:ext uri="{9D8B030D-6E8A-4147-A177-3AD203B41FA5}">
                      <a16:colId xmlns:a16="http://schemas.microsoft.com/office/drawing/2014/main" val="703895366"/>
                    </a:ext>
                  </a:extLst>
                </a:gridCol>
                <a:gridCol w="2689505">
                  <a:extLst>
                    <a:ext uri="{9D8B030D-6E8A-4147-A177-3AD203B41FA5}">
                      <a16:colId xmlns:a16="http://schemas.microsoft.com/office/drawing/2014/main" val="3336383884"/>
                    </a:ext>
                  </a:extLst>
                </a:gridCol>
              </a:tblGrid>
              <a:tr h="701484">
                <a:tc>
                  <a:txBody>
                    <a:bodyPr/>
                    <a:lstStyle/>
                    <a:p>
                      <a:r>
                        <a:rPr lang="en-IN" dirty="0"/>
                        <a:t>year</a:t>
                      </a:r>
                    </a:p>
                  </a:txBody>
                  <a:tcPr/>
                </a:tc>
                <a:tc>
                  <a:txBody>
                    <a:bodyPr/>
                    <a:lstStyle/>
                    <a:p>
                      <a:r>
                        <a:rPr lang="en-IN" dirty="0"/>
                        <a:t>Title of the paper</a:t>
                      </a:r>
                    </a:p>
                  </a:txBody>
                  <a:tcPr/>
                </a:tc>
                <a:tc>
                  <a:txBody>
                    <a:bodyPr/>
                    <a:lstStyle/>
                    <a:p>
                      <a:r>
                        <a:rPr lang="en-IN" dirty="0"/>
                        <a:t>Author</a:t>
                      </a:r>
                    </a:p>
                  </a:txBody>
                  <a:tcPr/>
                </a:tc>
                <a:tc>
                  <a:txBody>
                    <a:bodyPr/>
                    <a:lstStyle/>
                    <a:p>
                      <a:r>
                        <a:rPr lang="en-IN" dirty="0"/>
                        <a:t>       Abstract</a:t>
                      </a:r>
                    </a:p>
                  </a:txBody>
                  <a:tcPr/>
                </a:tc>
                <a:tc>
                  <a:txBody>
                    <a:bodyPr/>
                    <a:lstStyle/>
                    <a:p>
                      <a:r>
                        <a:rPr lang="en-IN" dirty="0"/>
                        <a:t>  Limitations</a:t>
                      </a:r>
                    </a:p>
                  </a:txBody>
                  <a:tcPr/>
                </a:tc>
                <a:extLst>
                  <a:ext uri="{0D108BD9-81ED-4DB2-BD59-A6C34878D82A}">
                    <a16:rowId xmlns:a16="http://schemas.microsoft.com/office/drawing/2014/main" val="3607109882"/>
                  </a:ext>
                </a:extLst>
              </a:tr>
              <a:tr h="4568606">
                <a:tc>
                  <a:txBody>
                    <a:bodyPr/>
                    <a:lstStyle/>
                    <a:p>
                      <a:endParaRPr lang="en-IN" dirty="0"/>
                    </a:p>
                    <a:p>
                      <a:r>
                        <a:rPr lang="en-IN" dirty="0"/>
                        <a:t>2025</a:t>
                      </a:r>
                    </a:p>
                  </a:txBody>
                  <a:tcPr/>
                </a:tc>
                <a:tc>
                  <a:txBody>
                    <a:bodyPr/>
                    <a:lstStyle/>
                    <a:p>
                      <a:r>
                        <a:rPr lang="en-US" dirty="0"/>
                        <a:t>Predicting Stock Market Trends Using Machine Learning and Sentiment Analysis </a:t>
                      </a:r>
                      <a:endParaRPr lang="en-IN" dirty="0"/>
                    </a:p>
                  </a:txBody>
                  <a:tcPr/>
                </a:tc>
                <a:tc>
                  <a:txBody>
                    <a:bodyPr/>
                    <a:lstStyle/>
                    <a:p>
                      <a:r>
                        <a:rPr lang="en-IN" dirty="0"/>
                        <a:t>Mr. Manan Agrawal,</a:t>
                      </a:r>
                    </a:p>
                    <a:p>
                      <a:r>
                        <a:rPr lang="en-IN" dirty="0"/>
                        <a:t>Dr. Arindam Mukherjee  </a:t>
                      </a:r>
                    </a:p>
                  </a:txBody>
                  <a:tcPr/>
                </a:tc>
                <a:tc>
                  <a:txBody>
                    <a:bodyPr/>
                    <a:lstStyle/>
                    <a:p>
                      <a:r>
                        <a:rPr lang="en-US" dirty="0"/>
                        <a:t>Stock market trend prediction has become increasingly important as investors seek data-driven insights to make informed trading decisions. This project focuses on predicting stock market trends using </a:t>
                      </a:r>
                      <a:r>
                        <a:rPr lang="en-US" b="1" dirty="0"/>
                        <a:t>Machine Learning (ML)</a:t>
                      </a:r>
                      <a:r>
                        <a:rPr lang="en-US" dirty="0"/>
                        <a:t> techniques combined with </a:t>
                      </a:r>
                      <a:r>
                        <a:rPr lang="en-US" b="1" dirty="0"/>
                        <a:t>Sentiment Analysis</a:t>
                      </a:r>
                      <a:r>
                        <a:rPr lang="en-US" dirty="0"/>
                        <a:t> of financial news and social media data. </a:t>
                      </a:r>
                      <a:endParaRPr lang="en-IN" dirty="0"/>
                    </a:p>
                  </a:txBody>
                  <a:tcPr/>
                </a:tc>
                <a:tc>
                  <a:txBody>
                    <a:bodyPr/>
                    <a:lstStyle/>
                    <a:p>
                      <a:r>
                        <a:rPr lang="en-US" b="1" dirty="0"/>
                        <a:t>Market Volatility &amp; Unpredictability</a:t>
                      </a:r>
                      <a:br>
                        <a:rPr lang="en-US" dirty="0"/>
                      </a:br>
                      <a:r>
                        <a:rPr lang="en-US" dirty="0"/>
                        <a:t>Stock markets are influenced by sudden events  that models cannot always capture.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 Quality Issues</a:t>
                      </a:r>
                      <a:br>
                        <a:rPr lang="en-US" dirty="0"/>
                      </a:br>
                      <a:r>
                        <a:rPr lang="en-US" dirty="0"/>
                        <a:t>Social media data may be noisy, biased, or contain misinformation, reducing sentiment accuracy.</a:t>
                      </a:r>
                    </a:p>
                    <a:p>
                      <a:endParaRPr lang="en-IN" dirty="0"/>
                    </a:p>
                  </a:txBody>
                  <a:tcPr/>
                </a:tc>
                <a:extLst>
                  <a:ext uri="{0D108BD9-81ED-4DB2-BD59-A6C34878D82A}">
                    <a16:rowId xmlns:a16="http://schemas.microsoft.com/office/drawing/2014/main" val="306523719"/>
                  </a:ext>
                </a:extLst>
              </a:tr>
            </a:tbl>
          </a:graphicData>
        </a:graphic>
      </p:graphicFrame>
    </p:spTree>
    <p:extLst>
      <p:ext uri="{BB962C8B-B14F-4D97-AF65-F5344CB8AC3E}">
        <p14:creationId xmlns:p14="http://schemas.microsoft.com/office/powerpoint/2010/main" val="209630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E874-7913-BB56-C9C2-AF43C506390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21E2496-B34E-073F-E316-401B2A55F384}"/>
              </a:ext>
            </a:extLst>
          </p:cNvPr>
          <p:cNvSpPr>
            <a:spLocks noGrp="1"/>
          </p:cNvSpPr>
          <p:nvPr>
            <p:ph type="subTitle" idx="1"/>
          </p:nvPr>
        </p:nvSpPr>
        <p:spPr>
          <a:xfrm>
            <a:off x="365760" y="137160"/>
            <a:ext cx="11283696" cy="6455664"/>
          </a:xfrm>
        </p:spPr>
        <p:txBody>
          <a:bodyPr/>
          <a:lstStyle/>
          <a:p>
            <a:endParaRPr lang="en-IN" dirty="0"/>
          </a:p>
        </p:txBody>
      </p:sp>
      <p:graphicFrame>
        <p:nvGraphicFramePr>
          <p:cNvPr id="4" name="Table 3">
            <a:extLst>
              <a:ext uri="{FF2B5EF4-FFF2-40B4-BE49-F238E27FC236}">
                <a16:creationId xmlns:a16="http://schemas.microsoft.com/office/drawing/2014/main" id="{10EAE7BA-2517-F8D7-E6C5-5EE693696CCF}"/>
              </a:ext>
            </a:extLst>
          </p:cNvPr>
          <p:cNvGraphicFramePr>
            <a:graphicFrameLocks noGrp="1"/>
          </p:cNvGraphicFramePr>
          <p:nvPr>
            <p:extLst>
              <p:ext uri="{D42A27DB-BD31-4B8C-83A1-F6EECF244321}">
                <p14:modId xmlns:p14="http://schemas.microsoft.com/office/powerpoint/2010/main" val="2764478831"/>
              </p:ext>
            </p:extLst>
          </p:nvPr>
        </p:nvGraphicFramePr>
        <p:xfrm>
          <a:off x="365759" y="484302"/>
          <a:ext cx="11177311" cy="5444550"/>
        </p:xfrm>
        <a:graphic>
          <a:graphicData uri="http://schemas.openxmlformats.org/drawingml/2006/table">
            <a:tbl>
              <a:tblPr firstRow="1" bandRow="1">
                <a:tableStyleId>{5C22544A-7EE6-4342-B048-85BDC9FD1C3A}</a:tableStyleId>
              </a:tblPr>
              <a:tblGrid>
                <a:gridCol w="1148695">
                  <a:extLst>
                    <a:ext uri="{9D8B030D-6E8A-4147-A177-3AD203B41FA5}">
                      <a16:colId xmlns:a16="http://schemas.microsoft.com/office/drawing/2014/main" val="1907543389"/>
                    </a:ext>
                  </a:extLst>
                </a:gridCol>
                <a:gridCol w="1758004">
                  <a:extLst>
                    <a:ext uri="{9D8B030D-6E8A-4147-A177-3AD203B41FA5}">
                      <a16:colId xmlns:a16="http://schemas.microsoft.com/office/drawing/2014/main" val="3676163372"/>
                    </a:ext>
                  </a:extLst>
                </a:gridCol>
                <a:gridCol w="2296282">
                  <a:extLst>
                    <a:ext uri="{9D8B030D-6E8A-4147-A177-3AD203B41FA5}">
                      <a16:colId xmlns:a16="http://schemas.microsoft.com/office/drawing/2014/main" val="2705247865"/>
                    </a:ext>
                  </a:extLst>
                </a:gridCol>
                <a:gridCol w="3266292">
                  <a:extLst>
                    <a:ext uri="{9D8B030D-6E8A-4147-A177-3AD203B41FA5}">
                      <a16:colId xmlns:a16="http://schemas.microsoft.com/office/drawing/2014/main" val="703895366"/>
                    </a:ext>
                  </a:extLst>
                </a:gridCol>
                <a:gridCol w="2708038">
                  <a:extLst>
                    <a:ext uri="{9D8B030D-6E8A-4147-A177-3AD203B41FA5}">
                      <a16:colId xmlns:a16="http://schemas.microsoft.com/office/drawing/2014/main" val="3336383884"/>
                    </a:ext>
                  </a:extLst>
                </a:gridCol>
              </a:tblGrid>
              <a:tr h="779953">
                <a:tc>
                  <a:txBody>
                    <a:bodyPr/>
                    <a:lstStyle/>
                    <a:p>
                      <a:r>
                        <a:rPr lang="en-IN" dirty="0"/>
                        <a:t>year</a:t>
                      </a:r>
                    </a:p>
                  </a:txBody>
                  <a:tcPr/>
                </a:tc>
                <a:tc>
                  <a:txBody>
                    <a:bodyPr/>
                    <a:lstStyle/>
                    <a:p>
                      <a:r>
                        <a:rPr lang="en-IN" dirty="0"/>
                        <a:t>Title of the paper</a:t>
                      </a:r>
                    </a:p>
                  </a:txBody>
                  <a:tcPr/>
                </a:tc>
                <a:tc>
                  <a:txBody>
                    <a:bodyPr/>
                    <a:lstStyle/>
                    <a:p>
                      <a:r>
                        <a:rPr lang="en-IN" dirty="0"/>
                        <a:t>Author</a:t>
                      </a:r>
                    </a:p>
                  </a:txBody>
                  <a:tcPr/>
                </a:tc>
                <a:tc>
                  <a:txBody>
                    <a:bodyPr/>
                    <a:lstStyle/>
                    <a:p>
                      <a:r>
                        <a:rPr lang="en-IN" dirty="0"/>
                        <a:t>       Abstract</a:t>
                      </a:r>
                    </a:p>
                  </a:txBody>
                  <a:tcPr/>
                </a:tc>
                <a:tc>
                  <a:txBody>
                    <a:bodyPr/>
                    <a:lstStyle/>
                    <a:p>
                      <a:r>
                        <a:rPr lang="en-IN" dirty="0"/>
                        <a:t>  Limitations</a:t>
                      </a:r>
                    </a:p>
                  </a:txBody>
                  <a:tcPr/>
                </a:tc>
                <a:extLst>
                  <a:ext uri="{0D108BD9-81ED-4DB2-BD59-A6C34878D82A}">
                    <a16:rowId xmlns:a16="http://schemas.microsoft.com/office/drawing/2014/main" val="3607109882"/>
                  </a:ext>
                </a:extLst>
              </a:tr>
              <a:tr h="4664597">
                <a:tc>
                  <a:txBody>
                    <a:bodyPr/>
                    <a:lstStyle/>
                    <a:p>
                      <a:endParaRPr lang="en-IN" dirty="0"/>
                    </a:p>
                    <a:p>
                      <a:r>
                        <a:rPr lang="en-IN" dirty="0"/>
                        <a:t>2025</a:t>
                      </a:r>
                    </a:p>
                  </a:txBody>
                  <a:tcPr/>
                </a:tc>
                <a:tc>
                  <a:txBody>
                    <a:bodyPr/>
                    <a:lstStyle/>
                    <a:p>
                      <a:r>
                        <a:rPr lang="en-US" dirty="0"/>
                        <a:t>A Review on Stock Market Trends and Stocks Price Prediction Using Sentiment Analysis and Market Data</a:t>
                      </a:r>
                      <a:endParaRPr lang="en-IN" dirty="0"/>
                    </a:p>
                  </a:txBody>
                  <a:tcPr/>
                </a:tc>
                <a:tc>
                  <a:txBody>
                    <a:bodyPr/>
                    <a:lstStyle/>
                    <a:p>
                      <a:r>
                        <a:rPr lang="en-IN" dirty="0"/>
                        <a:t>Nitin Mishra,</a:t>
                      </a:r>
                    </a:p>
                    <a:p>
                      <a:r>
                        <a:rPr lang="en-IN" dirty="0"/>
                        <a:t>Mohammad Anzar,</a:t>
                      </a:r>
                    </a:p>
                    <a:p>
                      <a:r>
                        <a:rPr lang="en-IN" dirty="0"/>
                        <a:t>Saksham Pandey,</a:t>
                      </a:r>
                    </a:p>
                    <a:p>
                      <a:r>
                        <a:rPr lang="en-IN" dirty="0"/>
                        <a:t>Santosh Mishra</a:t>
                      </a:r>
                    </a:p>
                    <a:p>
                      <a:endParaRPr lang="en-IN" dirty="0"/>
                    </a:p>
                  </a:txBody>
                  <a:tcPr/>
                </a:tc>
                <a:tc>
                  <a:txBody>
                    <a:bodyPr/>
                    <a:lstStyle/>
                    <a:p>
                      <a:r>
                        <a:rPr lang="en-US" dirty="0"/>
                        <a:t>The prediction of stock market trends and stock prices has gained significant attention due to increasing investor interest and the rapid growth of financial data. This review paper examines various techniques used for forecasting stock movements by integrating </a:t>
                      </a:r>
                      <a:r>
                        <a:rPr lang="en-US" b="1" dirty="0"/>
                        <a:t>market data</a:t>
                      </a:r>
                      <a:r>
                        <a:rPr lang="en-US" dirty="0"/>
                        <a:t> with </a:t>
                      </a:r>
                      <a:r>
                        <a:rPr lang="en-US" b="1" dirty="0"/>
                        <a:t>sentiment analysis</a:t>
                      </a:r>
                      <a:r>
                        <a:rPr lang="en-US" dirty="0"/>
                        <a:t> derived from financial news, social media platforms, and company reports.</a:t>
                      </a:r>
                      <a:endParaRPr lang="en-IN" dirty="0"/>
                    </a:p>
                  </a:txBody>
                  <a:tcPr/>
                </a:tc>
                <a:tc>
                  <a:txBody>
                    <a:bodyPr/>
                    <a:lstStyle/>
                    <a:p>
                      <a:r>
                        <a:rPr lang="en-US" b="1" dirty="0"/>
                        <a:t>High Market Volatility</a:t>
                      </a:r>
                      <a:br>
                        <a:rPr lang="en-US" dirty="0"/>
                      </a:br>
                      <a:r>
                        <a:rPr lang="en-US" dirty="0"/>
                        <a:t>Stock markets react to unexpected global and economic events, which makes predictions uncertain.</a:t>
                      </a:r>
                    </a:p>
                    <a:p>
                      <a:r>
                        <a:rPr lang="en-US" b="1" dirty="0"/>
                        <a:t>Sentiment Data Noise</a:t>
                      </a:r>
                      <a:br>
                        <a:rPr lang="en-US" dirty="0"/>
                      </a:br>
                      <a:r>
                        <a:rPr lang="en-US" dirty="0"/>
                        <a:t>Social media content may contain spam, bots, and misinformation, reducing the reliability of sentiment scores.</a:t>
                      </a:r>
                    </a:p>
                    <a:p>
                      <a:endParaRPr lang="en-US" dirty="0"/>
                    </a:p>
                    <a:p>
                      <a:endParaRPr lang="en-IN" dirty="0"/>
                    </a:p>
                  </a:txBody>
                  <a:tcPr/>
                </a:tc>
                <a:extLst>
                  <a:ext uri="{0D108BD9-81ED-4DB2-BD59-A6C34878D82A}">
                    <a16:rowId xmlns:a16="http://schemas.microsoft.com/office/drawing/2014/main" val="306523719"/>
                  </a:ext>
                </a:extLst>
              </a:tr>
            </a:tbl>
          </a:graphicData>
        </a:graphic>
      </p:graphicFrame>
    </p:spTree>
    <p:extLst>
      <p:ext uri="{BB962C8B-B14F-4D97-AF65-F5344CB8AC3E}">
        <p14:creationId xmlns:p14="http://schemas.microsoft.com/office/powerpoint/2010/main" val="577608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21DF3-C6A6-3A40-429A-33B2F9779C3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CE4757A-CAA9-67B6-50C9-949583239EF4}"/>
              </a:ext>
            </a:extLst>
          </p:cNvPr>
          <p:cNvSpPr>
            <a:spLocks noGrp="1"/>
          </p:cNvSpPr>
          <p:nvPr>
            <p:ph type="subTitle" idx="1"/>
          </p:nvPr>
        </p:nvSpPr>
        <p:spPr>
          <a:xfrm>
            <a:off x="365760" y="137160"/>
            <a:ext cx="11283696" cy="6455664"/>
          </a:xfrm>
        </p:spPr>
        <p:txBody>
          <a:bodyPr/>
          <a:lstStyle/>
          <a:p>
            <a:endParaRPr lang="en-IN" dirty="0"/>
          </a:p>
        </p:txBody>
      </p:sp>
      <p:graphicFrame>
        <p:nvGraphicFramePr>
          <p:cNvPr id="4" name="Table 3">
            <a:extLst>
              <a:ext uri="{FF2B5EF4-FFF2-40B4-BE49-F238E27FC236}">
                <a16:creationId xmlns:a16="http://schemas.microsoft.com/office/drawing/2014/main" id="{017B92BB-3456-2353-4572-D880DE5D6BA2}"/>
              </a:ext>
            </a:extLst>
          </p:cNvPr>
          <p:cNvGraphicFramePr>
            <a:graphicFrameLocks noGrp="1"/>
          </p:cNvGraphicFramePr>
          <p:nvPr>
            <p:extLst>
              <p:ext uri="{D42A27DB-BD31-4B8C-83A1-F6EECF244321}">
                <p14:modId xmlns:p14="http://schemas.microsoft.com/office/powerpoint/2010/main" val="4204442314"/>
              </p:ext>
            </p:extLst>
          </p:nvPr>
        </p:nvGraphicFramePr>
        <p:xfrm>
          <a:off x="542544" y="353961"/>
          <a:ext cx="10796018" cy="5850194"/>
        </p:xfrm>
        <a:graphic>
          <a:graphicData uri="http://schemas.openxmlformats.org/drawingml/2006/table">
            <a:tbl>
              <a:tblPr firstRow="1" bandRow="1">
                <a:tableStyleId>{5C22544A-7EE6-4342-B048-85BDC9FD1C3A}</a:tableStyleId>
              </a:tblPr>
              <a:tblGrid>
                <a:gridCol w="1109510">
                  <a:extLst>
                    <a:ext uri="{9D8B030D-6E8A-4147-A177-3AD203B41FA5}">
                      <a16:colId xmlns:a16="http://schemas.microsoft.com/office/drawing/2014/main" val="1907543389"/>
                    </a:ext>
                  </a:extLst>
                </a:gridCol>
                <a:gridCol w="1698033">
                  <a:extLst>
                    <a:ext uri="{9D8B030D-6E8A-4147-A177-3AD203B41FA5}">
                      <a16:colId xmlns:a16="http://schemas.microsoft.com/office/drawing/2014/main" val="3676163372"/>
                    </a:ext>
                  </a:extLst>
                </a:gridCol>
                <a:gridCol w="2217948">
                  <a:extLst>
                    <a:ext uri="{9D8B030D-6E8A-4147-A177-3AD203B41FA5}">
                      <a16:colId xmlns:a16="http://schemas.microsoft.com/office/drawing/2014/main" val="2705247865"/>
                    </a:ext>
                  </a:extLst>
                </a:gridCol>
                <a:gridCol w="3154868">
                  <a:extLst>
                    <a:ext uri="{9D8B030D-6E8A-4147-A177-3AD203B41FA5}">
                      <a16:colId xmlns:a16="http://schemas.microsoft.com/office/drawing/2014/main" val="703895366"/>
                    </a:ext>
                  </a:extLst>
                </a:gridCol>
                <a:gridCol w="2615659">
                  <a:extLst>
                    <a:ext uri="{9D8B030D-6E8A-4147-A177-3AD203B41FA5}">
                      <a16:colId xmlns:a16="http://schemas.microsoft.com/office/drawing/2014/main" val="3336383884"/>
                    </a:ext>
                  </a:extLst>
                </a:gridCol>
              </a:tblGrid>
              <a:tr h="838062">
                <a:tc>
                  <a:txBody>
                    <a:bodyPr/>
                    <a:lstStyle/>
                    <a:p>
                      <a:r>
                        <a:rPr lang="en-IN" dirty="0"/>
                        <a:t>year</a:t>
                      </a:r>
                    </a:p>
                  </a:txBody>
                  <a:tcPr/>
                </a:tc>
                <a:tc>
                  <a:txBody>
                    <a:bodyPr/>
                    <a:lstStyle/>
                    <a:p>
                      <a:r>
                        <a:rPr lang="en-IN" dirty="0"/>
                        <a:t>Title of the paper</a:t>
                      </a:r>
                    </a:p>
                  </a:txBody>
                  <a:tcPr/>
                </a:tc>
                <a:tc>
                  <a:txBody>
                    <a:bodyPr/>
                    <a:lstStyle/>
                    <a:p>
                      <a:r>
                        <a:rPr lang="en-IN" dirty="0"/>
                        <a:t>Author</a:t>
                      </a:r>
                    </a:p>
                  </a:txBody>
                  <a:tcPr/>
                </a:tc>
                <a:tc>
                  <a:txBody>
                    <a:bodyPr/>
                    <a:lstStyle/>
                    <a:p>
                      <a:r>
                        <a:rPr lang="en-IN" dirty="0"/>
                        <a:t>       Abstract</a:t>
                      </a:r>
                    </a:p>
                  </a:txBody>
                  <a:tcPr/>
                </a:tc>
                <a:tc>
                  <a:txBody>
                    <a:bodyPr/>
                    <a:lstStyle/>
                    <a:p>
                      <a:r>
                        <a:rPr lang="en-IN" dirty="0"/>
                        <a:t>  Limitations</a:t>
                      </a:r>
                    </a:p>
                  </a:txBody>
                  <a:tcPr/>
                </a:tc>
                <a:extLst>
                  <a:ext uri="{0D108BD9-81ED-4DB2-BD59-A6C34878D82A}">
                    <a16:rowId xmlns:a16="http://schemas.microsoft.com/office/drawing/2014/main" val="3607109882"/>
                  </a:ext>
                </a:extLst>
              </a:tr>
              <a:tr h="5012132">
                <a:tc>
                  <a:txBody>
                    <a:bodyPr/>
                    <a:lstStyle/>
                    <a:p>
                      <a:endParaRPr lang="en-IN" dirty="0"/>
                    </a:p>
                    <a:p>
                      <a:r>
                        <a:rPr lang="en-IN" dirty="0"/>
                        <a:t>2025</a:t>
                      </a:r>
                    </a:p>
                  </a:txBody>
                  <a:tcPr/>
                </a:tc>
                <a:tc>
                  <a:txBody>
                    <a:bodyPr/>
                    <a:lstStyle/>
                    <a:p>
                      <a:r>
                        <a:rPr lang="en-US" dirty="0"/>
                        <a:t>Applying Advanced Data Mining Technique to Predict Stock Market Trends from Textual Information</a:t>
                      </a:r>
                      <a:endParaRPr lang="en-IN" dirty="0"/>
                    </a:p>
                  </a:txBody>
                  <a:tcPr/>
                </a:tc>
                <a:tc>
                  <a:txBody>
                    <a:bodyPr/>
                    <a:lstStyle/>
                    <a:p>
                      <a:r>
                        <a:rPr lang="en-IN" dirty="0"/>
                        <a:t>Dr. Varsha Agarwal,</a:t>
                      </a:r>
                    </a:p>
                    <a:p>
                      <a:r>
                        <a:rPr lang="en-IN" dirty="0" err="1"/>
                        <a:t>Yallati</a:t>
                      </a:r>
                      <a:r>
                        <a:rPr lang="en-IN" dirty="0"/>
                        <a:t> Venkata Rangaiah, </a:t>
                      </a:r>
                    </a:p>
                    <a:p>
                      <a:r>
                        <a:rPr lang="en-IN" dirty="0"/>
                        <a:t>Dr. Saroj Kanta Biswal, </a:t>
                      </a:r>
                    </a:p>
                    <a:p>
                      <a:r>
                        <a:rPr lang="en-IN" dirty="0"/>
                        <a:t>Raghu N, </a:t>
                      </a:r>
                    </a:p>
                    <a:p>
                      <a:r>
                        <a:rPr lang="en-IN" dirty="0" err="1"/>
                        <a:t>Preetjot</a:t>
                      </a:r>
                      <a:r>
                        <a:rPr lang="en-IN" dirty="0"/>
                        <a:t> Singh, </a:t>
                      </a:r>
                    </a:p>
                    <a:p>
                      <a:r>
                        <a:rPr lang="en-IN" dirty="0"/>
                        <a:t>Dr. Mary </a:t>
                      </a:r>
                      <a:r>
                        <a:rPr lang="en-IN" dirty="0" err="1"/>
                        <a:t>Posonia</a:t>
                      </a:r>
                      <a:r>
                        <a:rPr lang="en-IN" dirty="0"/>
                        <a:t> A.</a:t>
                      </a:r>
                    </a:p>
                  </a:txBody>
                  <a:tcPr/>
                </a:tc>
                <a:tc>
                  <a:txBody>
                    <a:bodyPr/>
                    <a:lstStyle/>
                    <a:p>
                      <a:r>
                        <a:rPr lang="en-US" dirty="0"/>
                        <a:t>Predicting stock market trends has become increasingly challenging due to the vast amount of unstructured textual information generated from financial news, company reports, and social media. This study focuses on applying </a:t>
                      </a:r>
                      <a:r>
                        <a:rPr lang="en-US" b="1" dirty="0"/>
                        <a:t>advanced data mining techniques</a:t>
                      </a:r>
                      <a:r>
                        <a:rPr lang="en-US" dirty="0"/>
                        <a:t> to analyze and extract meaningful insights from textual data for stock market trend prediction.</a:t>
                      </a:r>
                      <a:endParaRPr lang="en-IN" dirty="0"/>
                    </a:p>
                  </a:txBody>
                  <a:tcPr/>
                </a:tc>
                <a:tc>
                  <a:txBody>
                    <a:bodyPr/>
                    <a:lstStyle/>
                    <a:p>
                      <a:r>
                        <a:rPr lang="en-IN" b="1" dirty="0"/>
                        <a:t>Textual Data Noise</a:t>
                      </a:r>
                      <a:br>
                        <a:rPr lang="en-IN" dirty="0"/>
                      </a:br>
                      <a:r>
                        <a:rPr lang="en-IN" dirty="0"/>
                        <a:t>Text from news and social media may contain irrelevant, misleading, or spam content, affecting model accuracy.</a:t>
                      </a:r>
                    </a:p>
                    <a:p>
                      <a:r>
                        <a:rPr lang="en-IN" b="1" dirty="0"/>
                        <a:t>Context Understanding Challenges</a:t>
                      </a:r>
                      <a:br>
                        <a:rPr lang="en-IN" dirty="0"/>
                      </a:br>
                      <a:r>
                        <a:rPr lang="en-IN" dirty="0"/>
                        <a:t>Data mining techniques may misinterpret sarcasm, irony, abbreviations, or domain-specific jargon.</a:t>
                      </a:r>
                    </a:p>
                    <a:p>
                      <a:endParaRPr lang="en-US" dirty="0"/>
                    </a:p>
                    <a:p>
                      <a:endParaRPr lang="en-IN" dirty="0"/>
                    </a:p>
                  </a:txBody>
                  <a:tcPr/>
                </a:tc>
                <a:extLst>
                  <a:ext uri="{0D108BD9-81ED-4DB2-BD59-A6C34878D82A}">
                    <a16:rowId xmlns:a16="http://schemas.microsoft.com/office/drawing/2014/main" val="306523719"/>
                  </a:ext>
                </a:extLst>
              </a:tr>
            </a:tbl>
          </a:graphicData>
        </a:graphic>
      </p:graphicFrame>
    </p:spTree>
    <p:extLst>
      <p:ext uri="{BB962C8B-B14F-4D97-AF65-F5344CB8AC3E}">
        <p14:creationId xmlns:p14="http://schemas.microsoft.com/office/powerpoint/2010/main" val="1176669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8D31-F76D-AF9D-1C40-327BD02C6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B70BD-36D7-52E7-86CB-061D1CB0C7D1}"/>
              </a:ext>
            </a:extLst>
          </p:cNvPr>
          <p:cNvSpPr>
            <a:spLocks noGrp="1"/>
          </p:cNvSpPr>
          <p:nvPr>
            <p:ph type="title"/>
          </p:nvPr>
        </p:nvSpPr>
        <p:spPr>
          <a:xfrm>
            <a:off x="167148" y="147484"/>
            <a:ext cx="11916697" cy="6710515"/>
          </a:xfrm>
        </p:spPr>
        <p:txBody>
          <a:bodyPr>
            <a:normAutofit/>
          </a:bodyPr>
          <a:lstStyle/>
          <a:p>
            <a:pPr algn="ctr"/>
            <a:endParaRPr lang="en-IN" sz="7200" dirty="0"/>
          </a:p>
        </p:txBody>
      </p:sp>
      <p:sp>
        <p:nvSpPr>
          <p:cNvPr id="3" name="Title 1">
            <a:extLst>
              <a:ext uri="{FF2B5EF4-FFF2-40B4-BE49-F238E27FC236}">
                <a16:creationId xmlns:a16="http://schemas.microsoft.com/office/drawing/2014/main" id="{1D9DE585-0333-9118-8A01-F26A377AA9D4}"/>
              </a:ext>
            </a:extLst>
          </p:cNvPr>
          <p:cNvSpPr>
            <a:spLocks noGrp="1"/>
          </p:cNvSpPr>
          <p:nvPr/>
        </p:nvSpPr>
        <p:spPr>
          <a:xfrm>
            <a:off x="432619" y="0"/>
            <a:ext cx="9562212" cy="22365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cap="all" baseline="0">
                <a:solidFill>
                  <a:schemeClr val="accent1"/>
                </a:solidFill>
                <a:effectLst/>
                <a:latin typeface="+mj-lt"/>
                <a:ea typeface="+mj-ea"/>
                <a:cs typeface="+mj-cs"/>
              </a:defRPr>
            </a:lvl1pPr>
          </a:lstStyle>
          <a:p>
            <a:r>
              <a:rPr lang="en-IN" dirty="0"/>
              <a:t>Proposed Methodology</a:t>
            </a:r>
            <a:br>
              <a:rPr lang="en-IN" dirty="0"/>
            </a:br>
            <a:endParaRPr dirty="0"/>
          </a:p>
        </p:txBody>
      </p:sp>
      <p:sp>
        <p:nvSpPr>
          <p:cNvPr id="4" name="Content Placeholder 2">
            <a:extLst>
              <a:ext uri="{FF2B5EF4-FFF2-40B4-BE49-F238E27FC236}">
                <a16:creationId xmlns:a16="http://schemas.microsoft.com/office/drawing/2014/main" id="{8F5148EE-1A0D-A03F-198D-BFF4D3CD99B6}"/>
              </a:ext>
            </a:extLst>
          </p:cNvPr>
          <p:cNvSpPr>
            <a:spLocks noGrp="1"/>
          </p:cNvSpPr>
          <p:nvPr/>
        </p:nvSpPr>
        <p:spPr>
          <a:xfrm>
            <a:off x="432619" y="1130710"/>
            <a:ext cx="9562212" cy="4642683"/>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r>
              <a:rPr lang="en-IN" dirty="0"/>
              <a:t>Collect data from market APIs, financial news, and economic datasets.</a:t>
            </a:r>
          </a:p>
          <a:p>
            <a:pPr marL="0" indent="0">
              <a:buNone/>
            </a:pPr>
            <a:r>
              <a:rPr lang="en-IN" dirty="0"/>
              <a:t>Preprocess data: clean, normalize, and extract features.</a:t>
            </a:r>
          </a:p>
          <a:p>
            <a:pPr marL="0" indent="0">
              <a:buNone/>
            </a:pPr>
            <a:r>
              <a:rPr lang="en-IN" dirty="0"/>
              <a:t>Build and train ML models (LSTM, CNN, Random Forest).</a:t>
            </a:r>
          </a:p>
          <a:p>
            <a:pPr marL="0" indent="0">
              <a:buNone/>
            </a:pPr>
            <a:r>
              <a:rPr lang="en-IN" dirty="0"/>
              <a:t>Fuse models using ensemble techniques.</a:t>
            </a:r>
          </a:p>
          <a:p>
            <a:pPr marL="0" indent="0">
              <a:buNone/>
            </a:pPr>
            <a:r>
              <a:rPr lang="en-IN" dirty="0"/>
              <a:t>Deploy dashboard for live user interaction.</a:t>
            </a:r>
          </a:p>
          <a:p>
            <a:endParaRPr dirty="0"/>
          </a:p>
        </p:txBody>
      </p:sp>
    </p:spTree>
    <p:extLst>
      <p:ext uri="{BB962C8B-B14F-4D97-AF65-F5344CB8AC3E}">
        <p14:creationId xmlns:p14="http://schemas.microsoft.com/office/powerpoint/2010/main" val="688021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8F2FD-73B0-ACE7-303A-7D6CF51CED96}"/>
              </a:ext>
            </a:extLst>
          </p:cNvPr>
          <p:cNvSpPr>
            <a:spLocks noGrp="1"/>
          </p:cNvSpPr>
          <p:nvPr>
            <p:ph type="ctrTitle"/>
          </p:nvPr>
        </p:nvSpPr>
        <p:spPr>
          <a:xfrm>
            <a:off x="1507067" y="373626"/>
            <a:ext cx="7766936" cy="1425677"/>
          </a:xfrm>
        </p:spPr>
        <p:txBody>
          <a:bodyPr/>
          <a:lstStyle/>
          <a:p>
            <a:r>
              <a:rPr lang="en-IN" dirty="0"/>
              <a:t>Key Technical Indicators</a:t>
            </a:r>
          </a:p>
        </p:txBody>
      </p:sp>
      <p:sp>
        <p:nvSpPr>
          <p:cNvPr id="3" name="Subtitle 2">
            <a:extLst>
              <a:ext uri="{FF2B5EF4-FFF2-40B4-BE49-F238E27FC236}">
                <a16:creationId xmlns:a16="http://schemas.microsoft.com/office/drawing/2014/main" id="{1894C420-022F-0C05-22F3-F5CDC566A8B1}"/>
              </a:ext>
            </a:extLst>
          </p:cNvPr>
          <p:cNvSpPr>
            <a:spLocks noGrp="1"/>
          </p:cNvSpPr>
          <p:nvPr>
            <p:ph type="subTitle" idx="1"/>
          </p:nvPr>
        </p:nvSpPr>
        <p:spPr>
          <a:xfrm>
            <a:off x="1507067" y="2290917"/>
            <a:ext cx="7766936" cy="2261418"/>
          </a:xfrm>
        </p:spPr>
        <p:txBody>
          <a:bodyPr>
            <a:normAutofit/>
          </a:bodyPr>
          <a:lstStyle/>
          <a:p>
            <a:pPr algn="l"/>
            <a:r>
              <a:rPr lang="en-IN" sz="3200" dirty="0">
                <a:solidFill>
                  <a:schemeClr val="tx2">
                    <a:lumMod val="50000"/>
                  </a:schemeClr>
                </a:solidFill>
              </a:rPr>
              <a:t>Mathematical tools to quantify trend, momentum and volatility</a:t>
            </a:r>
          </a:p>
        </p:txBody>
      </p:sp>
    </p:spTree>
    <p:extLst>
      <p:ext uri="{BB962C8B-B14F-4D97-AF65-F5344CB8AC3E}">
        <p14:creationId xmlns:p14="http://schemas.microsoft.com/office/powerpoint/2010/main" val="1993811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7F61F-AF47-4CBF-7D5E-E3361DE8C28D}"/>
              </a:ext>
            </a:extLst>
          </p:cNvPr>
          <p:cNvSpPr>
            <a:spLocks noGrp="1"/>
          </p:cNvSpPr>
          <p:nvPr>
            <p:ph type="ctrTitle"/>
          </p:nvPr>
        </p:nvSpPr>
        <p:spPr>
          <a:xfrm>
            <a:off x="1189702" y="0"/>
            <a:ext cx="7944465" cy="2546555"/>
          </a:xfrm>
        </p:spPr>
        <p:txBody>
          <a:bodyPr>
            <a:normAutofit/>
          </a:bodyPr>
          <a:lstStyle/>
          <a:p>
            <a:pPr algn="l"/>
            <a:r>
              <a:rPr lang="en-IN" sz="4400" dirty="0"/>
              <a:t>Indicator: Moving Averages(MAs)</a:t>
            </a:r>
            <a:br>
              <a:rPr lang="en-IN" sz="4400" dirty="0"/>
            </a:br>
            <a:endParaRPr lang="en-IN" sz="4400" dirty="0"/>
          </a:p>
        </p:txBody>
      </p:sp>
      <p:sp>
        <p:nvSpPr>
          <p:cNvPr id="3" name="Subtitle 2">
            <a:extLst>
              <a:ext uri="{FF2B5EF4-FFF2-40B4-BE49-F238E27FC236}">
                <a16:creationId xmlns:a16="http://schemas.microsoft.com/office/drawing/2014/main" id="{227CBDA1-02ED-292F-6790-EABCCAD186AC}"/>
              </a:ext>
            </a:extLst>
          </p:cNvPr>
          <p:cNvSpPr>
            <a:spLocks noGrp="1"/>
          </p:cNvSpPr>
          <p:nvPr>
            <p:ph type="subTitle" idx="1"/>
          </p:nvPr>
        </p:nvSpPr>
        <p:spPr>
          <a:xfrm>
            <a:off x="550606" y="2133601"/>
            <a:ext cx="5938684" cy="4434348"/>
          </a:xfrm>
        </p:spPr>
        <p:txBody>
          <a:bodyPr>
            <a:normAutofit/>
          </a:bodyPr>
          <a:lstStyle/>
          <a:p>
            <a:pPr algn="l"/>
            <a:r>
              <a:rPr lang="en-IN" dirty="0">
                <a:solidFill>
                  <a:schemeClr val="tx2">
                    <a:lumMod val="50000"/>
                  </a:schemeClr>
                </a:solidFill>
              </a:rPr>
              <a:t>The most fundamental trend filtering tool. Mas smooth price data to clearly reveal the underlying trend direction</a:t>
            </a:r>
          </a:p>
          <a:p>
            <a:pPr algn="l"/>
            <a:endParaRPr lang="en-IN" dirty="0">
              <a:solidFill>
                <a:schemeClr val="tx2">
                  <a:lumMod val="50000"/>
                </a:schemeClr>
              </a:solidFill>
            </a:endParaRPr>
          </a:p>
          <a:p>
            <a:pPr algn="l"/>
            <a:r>
              <a:rPr lang="en-IN" dirty="0">
                <a:solidFill>
                  <a:schemeClr val="tx2">
                    <a:lumMod val="50000"/>
                  </a:schemeClr>
                </a:solidFill>
              </a:rPr>
              <a:t>SMS(simple moving average): Equal weight to all prices in the period</a:t>
            </a:r>
          </a:p>
          <a:p>
            <a:pPr algn="l"/>
            <a:r>
              <a:rPr lang="en-IN" dirty="0">
                <a:solidFill>
                  <a:schemeClr val="tx2">
                    <a:lumMod val="50000"/>
                  </a:schemeClr>
                </a:solidFill>
              </a:rPr>
              <a:t> </a:t>
            </a:r>
          </a:p>
          <a:p>
            <a:pPr algn="l"/>
            <a:r>
              <a:rPr lang="en-IN" dirty="0">
                <a:solidFill>
                  <a:schemeClr val="tx2">
                    <a:lumMod val="50000"/>
                  </a:schemeClr>
                </a:solidFill>
              </a:rPr>
              <a:t>EMA(Exponential moving average):  Gives more weight to the recent prices, making it more responsive</a:t>
            </a:r>
          </a:p>
          <a:p>
            <a:pPr algn="l"/>
            <a:endParaRPr lang="en-IN" dirty="0">
              <a:solidFill>
                <a:schemeClr val="tx2">
                  <a:lumMod val="50000"/>
                </a:schemeClr>
              </a:solidFill>
            </a:endParaRPr>
          </a:p>
          <a:p>
            <a:pPr algn="l"/>
            <a:r>
              <a:rPr lang="en-IN" dirty="0">
                <a:solidFill>
                  <a:schemeClr val="tx2">
                    <a:lumMod val="50000"/>
                  </a:schemeClr>
                </a:solidFill>
              </a:rPr>
              <a:t>Key Signal : A “Golden Cross” (e.g., 50-day MA crosses above 200-day MA) is a strong bullish signal</a:t>
            </a:r>
          </a:p>
        </p:txBody>
      </p:sp>
      <p:pic>
        <p:nvPicPr>
          <p:cNvPr id="5" name="Picture 4">
            <a:extLst>
              <a:ext uri="{FF2B5EF4-FFF2-40B4-BE49-F238E27FC236}">
                <a16:creationId xmlns:a16="http://schemas.microsoft.com/office/drawing/2014/main" id="{01F4232B-7D9F-620B-DB0B-39E4052844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289" y="2546555"/>
            <a:ext cx="3146323" cy="2546555"/>
          </a:xfrm>
          <a:prstGeom prst="rect">
            <a:avLst/>
          </a:prstGeom>
        </p:spPr>
      </p:pic>
    </p:spTree>
    <p:extLst>
      <p:ext uri="{BB962C8B-B14F-4D97-AF65-F5344CB8AC3E}">
        <p14:creationId xmlns:p14="http://schemas.microsoft.com/office/powerpoint/2010/main" val="3733791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937E-F33F-C092-F75F-E80AED8E1739}"/>
              </a:ext>
            </a:extLst>
          </p:cNvPr>
          <p:cNvSpPr>
            <a:spLocks noGrp="1"/>
          </p:cNvSpPr>
          <p:nvPr>
            <p:ph type="ctrTitle"/>
          </p:nvPr>
        </p:nvSpPr>
        <p:spPr>
          <a:xfrm>
            <a:off x="845574" y="275305"/>
            <a:ext cx="8200103" cy="1655762"/>
          </a:xfrm>
        </p:spPr>
        <p:txBody>
          <a:bodyPr>
            <a:normAutofit fontScale="90000"/>
          </a:bodyPr>
          <a:lstStyle/>
          <a:p>
            <a:pPr algn="ctr"/>
            <a:r>
              <a:rPr lang="en-IN" dirty="0"/>
              <a:t>Indicators: Momemtum Oscillators</a:t>
            </a:r>
          </a:p>
        </p:txBody>
      </p:sp>
      <p:sp>
        <p:nvSpPr>
          <p:cNvPr id="3" name="Subtitle 2">
            <a:extLst>
              <a:ext uri="{FF2B5EF4-FFF2-40B4-BE49-F238E27FC236}">
                <a16:creationId xmlns:a16="http://schemas.microsoft.com/office/drawing/2014/main" id="{29461002-539E-15D9-4847-6195A8576C29}"/>
              </a:ext>
            </a:extLst>
          </p:cNvPr>
          <p:cNvSpPr>
            <a:spLocks noGrp="1"/>
          </p:cNvSpPr>
          <p:nvPr>
            <p:ph type="subTitle" idx="1"/>
          </p:nvPr>
        </p:nvSpPr>
        <p:spPr>
          <a:xfrm>
            <a:off x="629266" y="2281083"/>
            <a:ext cx="5191432" cy="4070555"/>
          </a:xfrm>
        </p:spPr>
        <p:txBody>
          <a:bodyPr>
            <a:normAutofit/>
          </a:bodyPr>
          <a:lstStyle/>
          <a:p>
            <a:pPr algn="l"/>
            <a:r>
              <a:rPr lang="en-IN" dirty="0">
                <a:solidFill>
                  <a:schemeClr val="tx2">
                    <a:lumMod val="50000"/>
                  </a:schemeClr>
                </a:solidFill>
              </a:rPr>
              <a:t>RSI(Relative Strength Index):</a:t>
            </a:r>
          </a:p>
          <a:p>
            <a:pPr algn="l"/>
            <a:r>
              <a:rPr lang="en-IN" dirty="0">
                <a:solidFill>
                  <a:schemeClr val="tx2">
                    <a:lumMod val="50000"/>
                  </a:schemeClr>
                </a:solidFill>
              </a:rPr>
              <a:t>Measures the speed and change of price. Identifies overbought (&gt;70) and oversold(&lt;30) conditions</a:t>
            </a:r>
          </a:p>
          <a:p>
            <a:pPr algn="l"/>
            <a:endParaRPr lang="en-IN" dirty="0">
              <a:solidFill>
                <a:schemeClr val="tx2">
                  <a:lumMod val="50000"/>
                </a:schemeClr>
              </a:solidFill>
            </a:endParaRPr>
          </a:p>
          <a:p>
            <a:pPr algn="l"/>
            <a:r>
              <a:rPr lang="en-IN" dirty="0">
                <a:solidFill>
                  <a:schemeClr val="tx2">
                    <a:lumMod val="50000"/>
                  </a:schemeClr>
                </a:solidFill>
              </a:rPr>
              <a:t>MACD(Moving Average Convergence Divergence):</a:t>
            </a:r>
          </a:p>
          <a:p>
            <a:pPr algn="l"/>
            <a:r>
              <a:rPr lang="en-IN" dirty="0">
                <a:solidFill>
                  <a:schemeClr val="tx2">
                    <a:lumMod val="50000"/>
                  </a:schemeClr>
                </a:solidFill>
              </a:rPr>
              <a:t>How the relationship between two EMAs. Uses crossovers (MACD line vs Signal line) and a Histogram to signal momentum shifts</a:t>
            </a:r>
          </a:p>
        </p:txBody>
      </p:sp>
      <p:pic>
        <p:nvPicPr>
          <p:cNvPr id="5" name="Picture 4">
            <a:extLst>
              <a:ext uri="{FF2B5EF4-FFF2-40B4-BE49-F238E27FC236}">
                <a16:creationId xmlns:a16="http://schemas.microsoft.com/office/drawing/2014/main" id="{62D8CBC7-8FA2-29C7-4D80-0E31438256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0698" y="2664542"/>
            <a:ext cx="3687096" cy="2378945"/>
          </a:xfrm>
          <a:prstGeom prst="rect">
            <a:avLst/>
          </a:prstGeom>
        </p:spPr>
      </p:pic>
    </p:spTree>
    <p:extLst>
      <p:ext uri="{BB962C8B-B14F-4D97-AF65-F5344CB8AC3E}">
        <p14:creationId xmlns:p14="http://schemas.microsoft.com/office/powerpoint/2010/main" val="1797115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6D4D-E43C-999F-AE35-B34100D12F32}"/>
              </a:ext>
            </a:extLst>
          </p:cNvPr>
          <p:cNvSpPr>
            <a:spLocks noGrp="1"/>
          </p:cNvSpPr>
          <p:nvPr>
            <p:ph type="title"/>
          </p:nvPr>
        </p:nvSpPr>
        <p:spPr/>
        <p:txBody>
          <a:bodyPr/>
          <a:lstStyle/>
          <a:p>
            <a:r>
              <a:rPr lang="en-IN" dirty="0"/>
              <a:t>Economic Factors </a:t>
            </a:r>
          </a:p>
        </p:txBody>
      </p:sp>
      <p:sp>
        <p:nvSpPr>
          <p:cNvPr id="3" name="Content Placeholder 2">
            <a:extLst>
              <a:ext uri="{FF2B5EF4-FFF2-40B4-BE49-F238E27FC236}">
                <a16:creationId xmlns:a16="http://schemas.microsoft.com/office/drawing/2014/main" id="{72E1C8AE-A18A-2BE9-8ACC-2311748F0D86}"/>
              </a:ext>
            </a:extLst>
          </p:cNvPr>
          <p:cNvSpPr>
            <a:spLocks noGrp="1"/>
          </p:cNvSpPr>
          <p:nvPr>
            <p:ph idx="1"/>
          </p:nvPr>
        </p:nvSpPr>
        <p:spPr/>
        <p:txBody>
          <a:bodyPr>
            <a:normAutofit/>
          </a:bodyPr>
          <a:lstStyle/>
          <a:p>
            <a:r>
              <a:rPr lang="en-IN" sz="2800" dirty="0"/>
              <a:t>The macroeconomic forces that shape long term primary trends</a:t>
            </a:r>
          </a:p>
        </p:txBody>
      </p:sp>
    </p:spTree>
    <p:extLst>
      <p:ext uri="{BB962C8B-B14F-4D97-AF65-F5344CB8AC3E}">
        <p14:creationId xmlns:p14="http://schemas.microsoft.com/office/powerpoint/2010/main" val="3830420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956BB-9D5C-2110-C50B-2EC626C6F45A}"/>
              </a:ext>
            </a:extLst>
          </p:cNvPr>
          <p:cNvSpPr>
            <a:spLocks noGrp="1"/>
          </p:cNvSpPr>
          <p:nvPr>
            <p:ph type="ctrTitle"/>
          </p:nvPr>
        </p:nvSpPr>
        <p:spPr>
          <a:xfrm>
            <a:off x="825910" y="426065"/>
            <a:ext cx="8111614" cy="1737032"/>
          </a:xfrm>
        </p:spPr>
        <p:txBody>
          <a:bodyPr>
            <a:normAutofit fontScale="90000"/>
          </a:bodyPr>
          <a:lstStyle/>
          <a:p>
            <a:pPr algn="l"/>
            <a:r>
              <a:rPr lang="en-IN" dirty="0"/>
              <a:t>Economic Drivers: Rates and Inflation</a:t>
            </a:r>
          </a:p>
        </p:txBody>
      </p:sp>
      <p:sp>
        <p:nvSpPr>
          <p:cNvPr id="3" name="Subtitle 2">
            <a:extLst>
              <a:ext uri="{FF2B5EF4-FFF2-40B4-BE49-F238E27FC236}">
                <a16:creationId xmlns:a16="http://schemas.microsoft.com/office/drawing/2014/main" id="{92D5E856-73D0-6373-69A6-AAF15C92F92C}"/>
              </a:ext>
            </a:extLst>
          </p:cNvPr>
          <p:cNvSpPr>
            <a:spLocks noGrp="1"/>
          </p:cNvSpPr>
          <p:nvPr>
            <p:ph type="subTitle" idx="1"/>
          </p:nvPr>
        </p:nvSpPr>
        <p:spPr>
          <a:xfrm>
            <a:off x="693173" y="2271252"/>
            <a:ext cx="5491317" cy="4345857"/>
          </a:xfrm>
        </p:spPr>
        <p:txBody>
          <a:bodyPr>
            <a:normAutofit/>
          </a:bodyPr>
          <a:lstStyle/>
          <a:p>
            <a:pPr algn="l"/>
            <a:r>
              <a:rPr lang="en-IN" dirty="0">
                <a:solidFill>
                  <a:schemeClr val="tx2">
                    <a:lumMod val="50000"/>
                  </a:schemeClr>
                </a:solidFill>
              </a:rPr>
              <a:t>Long-Term trends are dictated by economic environment</a:t>
            </a:r>
          </a:p>
          <a:p>
            <a:pPr algn="l"/>
            <a:r>
              <a:rPr lang="en-IN" dirty="0">
                <a:solidFill>
                  <a:schemeClr val="tx2">
                    <a:lumMod val="50000"/>
                  </a:schemeClr>
                </a:solidFill>
              </a:rPr>
              <a:t>Rising Interest Rates : Bad for Stocks. Increases company debt costs and lowers valuations</a:t>
            </a:r>
          </a:p>
          <a:p>
            <a:pPr algn="l"/>
            <a:endParaRPr lang="en-IN" dirty="0">
              <a:solidFill>
                <a:schemeClr val="tx2">
                  <a:lumMod val="50000"/>
                </a:schemeClr>
              </a:solidFill>
            </a:endParaRPr>
          </a:p>
          <a:p>
            <a:pPr algn="l"/>
            <a:r>
              <a:rPr lang="en-IN" dirty="0">
                <a:solidFill>
                  <a:schemeClr val="tx2">
                    <a:lumMod val="50000"/>
                  </a:schemeClr>
                </a:solidFill>
              </a:rPr>
              <a:t>High Inflation : Bad for stocks. Squeezes corporate profit margins and reduces consumer demand</a:t>
            </a:r>
          </a:p>
          <a:p>
            <a:pPr algn="l"/>
            <a:endParaRPr lang="en-IN" dirty="0">
              <a:solidFill>
                <a:schemeClr val="tx2">
                  <a:lumMod val="50000"/>
                </a:schemeClr>
              </a:solidFill>
            </a:endParaRPr>
          </a:p>
          <a:p>
            <a:pPr algn="l"/>
            <a:r>
              <a:rPr lang="en-IN" dirty="0">
                <a:solidFill>
                  <a:schemeClr val="tx2">
                    <a:lumMod val="50000"/>
                  </a:schemeClr>
                </a:solidFill>
              </a:rPr>
              <a:t>GDP Growth : Strong GDP= strong corporate earnings. The market is forward-looking often leading GDP by 6-9 months</a:t>
            </a:r>
          </a:p>
        </p:txBody>
      </p:sp>
      <p:pic>
        <p:nvPicPr>
          <p:cNvPr id="5" name="Picture 4">
            <a:extLst>
              <a:ext uri="{FF2B5EF4-FFF2-40B4-BE49-F238E27FC236}">
                <a16:creationId xmlns:a16="http://schemas.microsoft.com/office/drawing/2014/main" id="{E5CBDCA5-4507-CE86-4FA3-0DAD43DBC2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9187" y="1769806"/>
            <a:ext cx="2939845" cy="3982065"/>
          </a:xfrm>
          <a:prstGeom prst="rect">
            <a:avLst/>
          </a:prstGeom>
        </p:spPr>
      </p:pic>
    </p:spTree>
    <p:extLst>
      <p:ext uri="{BB962C8B-B14F-4D97-AF65-F5344CB8AC3E}">
        <p14:creationId xmlns:p14="http://schemas.microsoft.com/office/powerpoint/2010/main" val="1464319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4005-A10D-088D-C4EE-220A6721AF13}"/>
              </a:ext>
            </a:extLst>
          </p:cNvPr>
          <p:cNvSpPr>
            <a:spLocks noGrp="1"/>
          </p:cNvSpPr>
          <p:nvPr>
            <p:ph type="ctrTitle"/>
          </p:nvPr>
        </p:nvSpPr>
        <p:spPr>
          <a:xfrm>
            <a:off x="1524000" y="417872"/>
            <a:ext cx="7089058" cy="2050025"/>
          </a:xfrm>
        </p:spPr>
        <p:txBody>
          <a:bodyPr>
            <a:normAutofit/>
          </a:bodyPr>
          <a:lstStyle/>
          <a:p>
            <a:r>
              <a:rPr lang="en-IN" dirty="0"/>
              <a:t>Sector Rotation: The Cyclical Flow </a:t>
            </a:r>
          </a:p>
        </p:txBody>
      </p:sp>
      <p:sp>
        <p:nvSpPr>
          <p:cNvPr id="3" name="Subtitle 2">
            <a:extLst>
              <a:ext uri="{FF2B5EF4-FFF2-40B4-BE49-F238E27FC236}">
                <a16:creationId xmlns:a16="http://schemas.microsoft.com/office/drawing/2014/main" id="{6A1F77F8-667B-4005-BA17-1940DE82E72F}"/>
              </a:ext>
            </a:extLst>
          </p:cNvPr>
          <p:cNvSpPr>
            <a:spLocks noGrp="1"/>
          </p:cNvSpPr>
          <p:nvPr>
            <p:ph type="subTitle" idx="1"/>
          </p:nvPr>
        </p:nvSpPr>
        <p:spPr>
          <a:xfrm>
            <a:off x="727587" y="2949677"/>
            <a:ext cx="5594555" cy="3647768"/>
          </a:xfrm>
        </p:spPr>
        <p:txBody>
          <a:bodyPr/>
          <a:lstStyle/>
          <a:p>
            <a:r>
              <a:rPr lang="en-IN" dirty="0">
                <a:solidFill>
                  <a:schemeClr val="tx2">
                    <a:lumMod val="50000"/>
                  </a:schemeClr>
                </a:solidFill>
              </a:rPr>
              <a:t>Capital moves between sectors based on the phase of the economic cycle</a:t>
            </a:r>
          </a:p>
          <a:p>
            <a:endParaRPr lang="en-IN" dirty="0">
              <a:solidFill>
                <a:schemeClr val="tx2">
                  <a:lumMod val="50000"/>
                </a:schemeClr>
              </a:solidFill>
            </a:endParaRPr>
          </a:p>
          <a:p>
            <a:pPr algn="l"/>
            <a:r>
              <a:rPr lang="en-IN" dirty="0">
                <a:solidFill>
                  <a:schemeClr val="accent5"/>
                </a:solidFill>
              </a:rPr>
              <a:t>Contraction(Recession):</a:t>
            </a:r>
          </a:p>
          <a:p>
            <a:pPr algn="l"/>
            <a:r>
              <a:rPr lang="en-IN" dirty="0">
                <a:solidFill>
                  <a:schemeClr val="tx2">
                    <a:lumMod val="50000"/>
                  </a:schemeClr>
                </a:solidFill>
              </a:rPr>
              <a:t>Money flows to Defensive sectors (utilities, Health care, Consumer Staples)</a:t>
            </a:r>
          </a:p>
          <a:p>
            <a:pPr algn="l"/>
            <a:endParaRPr lang="en-IN" dirty="0">
              <a:solidFill>
                <a:schemeClr val="tx2">
                  <a:lumMod val="50000"/>
                </a:schemeClr>
              </a:solidFill>
            </a:endParaRPr>
          </a:p>
          <a:p>
            <a:pPr algn="l"/>
            <a:r>
              <a:rPr lang="en-IN" dirty="0">
                <a:solidFill>
                  <a:schemeClr val="accent5"/>
                </a:solidFill>
              </a:rPr>
              <a:t>Expansion (Growth):</a:t>
            </a:r>
          </a:p>
          <a:p>
            <a:pPr algn="l"/>
            <a:r>
              <a:rPr lang="en-IN" dirty="0">
                <a:solidFill>
                  <a:schemeClr val="tx2">
                    <a:lumMod val="50000"/>
                  </a:schemeClr>
                </a:solidFill>
              </a:rPr>
              <a:t>Money flows to cyclical sectors(Technology, Consumer Discretionary, Industrials)</a:t>
            </a:r>
          </a:p>
        </p:txBody>
      </p:sp>
      <p:pic>
        <p:nvPicPr>
          <p:cNvPr id="5" name="Picture 4">
            <a:extLst>
              <a:ext uri="{FF2B5EF4-FFF2-40B4-BE49-F238E27FC236}">
                <a16:creationId xmlns:a16="http://schemas.microsoft.com/office/drawing/2014/main" id="{7DAB5EE5-6E09-F8B5-43B9-EEC37183F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1" y="2664542"/>
            <a:ext cx="2684206" cy="3017120"/>
          </a:xfrm>
          <a:prstGeom prst="rect">
            <a:avLst/>
          </a:prstGeom>
        </p:spPr>
      </p:pic>
    </p:spTree>
    <p:extLst>
      <p:ext uri="{BB962C8B-B14F-4D97-AF65-F5344CB8AC3E}">
        <p14:creationId xmlns:p14="http://schemas.microsoft.com/office/powerpoint/2010/main" val="1879306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5DF73-476D-0BCB-C68A-8E2D04177F85}"/>
              </a:ext>
            </a:extLst>
          </p:cNvPr>
          <p:cNvSpPr>
            <a:spLocks noGrp="1"/>
          </p:cNvSpPr>
          <p:nvPr>
            <p:ph type="ctrTitle"/>
          </p:nvPr>
        </p:nvSpPr>
        <p:spPr>
          <a:xfrm>
            <a:off x="412955" y="167149"/>
            <a:ext cx="8131277" cy="1179870"/>
          </a:xfrm>
        </p:spPr>
        <p:txBody>
          <a:bodyPr/>
          <a:lstStyle/>
          <a:p>
            <a:r>
              <a:rPr lang="en-IN" dirty="0"/>
              <a:t>The </a:t>
            </a:r>
            <a:r>
              <a:rPr lang="en-IN" dirty="0" err="1"/>
              <a:t>Physology</a:t>
            </a:r>
            <a:r>
              <a:rPr lang="en-IN" dirty="0"/>
              <a:t> of Trends </a:t>
            </a:r>
          </a:p>
        </p:txBody>
      </p:sp>
      <p:sp>
        <p:nvSpPr>
          <p:cNvPr id="3" name="Subtitle 2">
            <a:extLst>
              <a:ext uri="{FF2B5EF4-FFF2-40B4-BE49-F238E27FC236}">
                <a16:creationId xmlns:a16="http://schemas.microsoft.com/office/drawing/2014/main" id="{6C834908-C1F0-8E1B-BB61-DF3481EACE42}"/>
              </a:ext>
            </a:extLst>
          </p:cNvPr>
          <p:cNvSpPr>
            <a:spLocks noGrp="1"/>
          </p:cNvSpPr>
          <p:nvPr>
            <p:ph type="subTitle" idx="1"/>
          </p:nvPr>
        </p:nvSpPr>
        <p:spPr>
          <a:xfrm>
            <a:off x="412956" y="2477729"/>
            <a:ext cx="5112773" cy="3864077"/>
          </a:xfrm>
        </p:spPr>
        <p:txBody>
          <a:bodyPr/>
          <a:lstStyle/>
          <a:p>
            <a:pPr algn="l"/>
            <a:r>
              <a:rPr lang="en-IN" dirty="0">
                <a:solidFill>
                  <a:schemeClr val="tx2">
                    <a:lumMod val="50000"/>
                  </a:schemeClr>
                </a:solidFill>
              </a:rPr>
              <a:t>Markets are not perfectly rational. They are driven by two primary emotions</a:t>
            </a:r>
          </a:p>
          <a:p>
            <a:pPr algn="l"/>
            <a:endParaRPr lang="en-IN" dirty="0">
              <a:solidFill>
                <a:schemeClr val="tx2">
                  <a:lumMod val="50000"/>
                </a:schemeClr>
              </a:solidFill>
            </a:endParaRPr>
          </a:p>
          <a:p>
            <a:pPr algn="l"/>
            <a:r>
              <a:rPr lang="en-IN" dirty="0">
                <a:solidFill>
                  <a:schemeClr val="accent5"/>
                </a:solidFill>
              </a:rPr>
              <a:t>Greed</a:t>
            </a:r>
            <a:r>
              <a:rPr lang="en-IN" dirty="0">
                <a:solidFill>
                  <a:schemeClr val="tx2">
                    <a:lumMod val="50000"/>
                  </a:schemeClr>
                </a:solidFill>
              </a:rPr>
              <a:t>: The driver of bull market and bubbles. Leads to FOMO(Fear of Missing </a:t>
            </a:r>
          </a:p>
          <a:p>
            <a:pPr algn="l"/>
            <a:r>
              <a:rPr lang="en-IN" dirty="0">
                <a:solidFill>
                  <a:schemeClr val="tx2">
                    <a:lumMod val="50000"/>
                  </a:schemeClr>
                </a:solidFill>
              </a:rPr>
              <a:t>Out) and euphoria</a:t>
            </a:r>
          </a:p>
          <a:p>
            <a:pPr algn="l"/>
            <a:endParaRPr lang="en-IN" dirty="0">
              <a:solidFill>
                <a:schemeClr val="tx2">
                  <a:lumMod val="50000"/>
                </a:schemeClr>
              </a:solidFill>
            </a:endParaRPr>
          </a:p>
          <a:p>
            <a:pPr algn="l"/>
            <a:r>
              <a:rPr lang="en-IN" dirty="0">
                <a:solidFill>
                  <a:schemeClr val="accent5"/>
                </a:solidFill>
              </a:rPr>
              <a:t>Fear:</a:t>
            </a:r>
            <a:r>
              <a:rPr lang="en-IN" dirty="0">
                <a:solidFill>
                  <a:schemeClr val="tx2">
                    <a:lumMod val="50000"/>
                  </a:schemeClr>
                </a:solidFill>
              </a:rPr>
              <a:t> The driver of bear markets and crashes . Leads to panic selling and capitulation</a:t>
            </a:r>
          </a:p>
        </p:txBody>
      </p:sp>
      <p:pic>
        <p:nvPicPr>
          <p:cNvPr id="5" name="Picture 4">
            <a:extLst>
              <a:ext uri="{FF2B5EF4-FFF2-40B4-BE49-F238E27FC236}">
                <a16:creationId xmlns:a16="http://schemas.microsoft.com/office/drawing/2014/main" id="{61562829-5272-A3C3-6A58-B362EFBD2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8219" y="2477729"/>
            <a:ext cx="3755922" cy="2865796"/>
          </a:xfrm>
          <a:prstGeom prst="rect">
            <a:avLst/>
          </a:prstGeom>
        </p:spPr>
      </p:pic>
    </p:spTree>
    <p:extLst>
      <p:ext uri="{BB962C8B-B14F-4D97-AF65-F5344CB8AC3E}">
        <p14:creationId xmlns:p14="http://schemas.microsoft.com/office/powerpoint/2010/main" val="2290204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9F08-9015-4D4E-1B4C-E5791DCE7738}"/>
              </a:ext>
            </a:extLst>
          </p:cNvPr>
          <p:cNvSpPr>
            <a:spLocks noGrp="1"/>
          </p:cNvSpPr>
          <p:nvPr>
            <p:ph type="ctrTitle"/>
          </p:nvPr>
        </p:nvSpPr>
        <p:spPr>
          <a:xfrm>
            <a:off x="963561" y="0"/>
            <a:ext cx="7403691" cy="1809135"/>
          </a:xfrm>
        </p:spPr>
        <p:txBody>
          <a:bodyPr/>
          <a:lstStyle/>
          <a:p>
            <a:pPr algn="ctr"/>
            <a:r>
              <a:rPr lang="en-IN" dirty="0"/>
              <a:t>Risk Management in Trend Analysis</a:t>
            </a:r>
          </a:p>
        </p:txBody>
      </p:sp>
      <p:sp>
        <p:nvSpPr>
          <p:cNvPr id="3" name="Subtitle 2">
            <a:extLst>
              <a:ext uri="{FF2B5EF4-FFF2-40B4-BE49-F238E27FC236}">
                <a16:creationId xmlns:a16="http://schemas.microsoft.com/office/drawing/2014/main" id="{23482D60-423E-592C-863B-1FD605B668E4}"/>
              </a:ext>
            </a:extLst>
          </p:cNvPr>
          <p:cNvSpPr>
            <a:spLocks noGrp="1"/>
          </p:cNvSpPr>
          <p:nvPr>
            <p:ph type="subTitle" idx="1"/>
          </p:nvPr>
        </p:nvSpPr>
        <p:spPr>
          <a:xfrm>
            <a:off x="550607" y="2133600"/>
            <a:ext cx="4719484" cy="4463845"/>
          </a:xfrm>
        </p:spPr>
        <p:txBody>
          <a:bodyPr>
            <a:normAutofit/>
          </a:bodyPr>
          <a:lstStyle/>
          <a:p>
            <a:pPr algn="l"/>
            <a:r>
              <a:rPr lang="en-IN" sz="2000" dirty="0">
                <a:solidFill>
                  <a:schemeClr val="tx2">
                    <a:lumMod val="50000"/>
                  </a:schemeClr>
                </a:solidFill>
              </a:rPr>
              <a:t>Diversification: Spreading investments across different assets, sectors and regions</a:t>
            </a:r>
          </a:p>
          <a:p>
            <a:pPr algn="l"/>
            <a:r>
              <a:rPr lang="en-IN" sz="2000" dirty="0">
                <a:solidFill>
                  <a:schemeClr val="tx2">
                    <a:lumMod val="50000"/>
                  </a:schemeClr>
                </a:solidFill>
              </a:rPr>
              <a:t>Stop-Loss Orders: A pre-set order to sell a security and protect capital from a major reversal</a:t>
            </a:r>
          </a:p>
          <a:p>
            <a:pPr algn="l"/>
            <a:r>
              <a:rPr lang="en-IN" sz="2000" dirty="0">
                <a:solidFill>
                  <a:schemeClr val="tx2">
                    <a:lumMod val="50000"/>
                  </a:schemeClr>
                </a:solidFill>
              </a:rPr>
              <a:t>Position Sizing: Controlling how much to invest in a single trade(e.g., the “2% Rule”) </a:t>
            </a:r>
          </a:p>
        </p:txBody>
      </p:sp>
      <p:pic>
        <p:nvPicPr>
          <p:cNvPr id="5" name="Picture 4">
            <a:extLst>
              <a:ext uri="{FF2B5EF4-FFF2-40B4-BE49-F238E27FC236}">
                <a16:creationId xmlns:a16="http://schemas.microsoft.com/office/drawing/2014/main" id="{61D62050-6880-2A4A-0C66-AF6B74282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9523" y="2389239"/>
            <a:ext cx="3451122" cy="3264308"/>
          </a:xfrm>
          <a:prstGeom prst="rect">
            <a:avLst/>
          </a:prstGeom>
        </p:spPr>
      </p:pic>
    </p:spTree>
    <p:extLst>
      <p:ext uri="{BB962C8B-B14F-4D97-AF65-F5344CB8AC3E}">
        <p14:creationId xmlns:p14="http://schemas.microsoft.com/office/powerpoint/2010/main" val="3883083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3C032-8F2A-E075-6870-9923C5DBCA8F}"/>
              </a:ext>
            </a:extLst>
          </p:cNvPr>
          <p:cNvSpPr>
            <a:spLocks noGrp="1"/>
          </p:cNvSpPr>
          <p:nvPr>
            <p:ph type="ctrTitle"/>
          </p:nvPr>
        </p:nvSpPr>
        <p:spPr>
          <a:xfrm>
            <a:off x="943898" y="206477"/>
            <a:ext cx="7855974" cy="1750142"/>
          </a:xfrm>
        </p:spPr>
        <p:txBody>
          <a:bodyPr/>
          <a:lstStyle/>
          <a:p>
            <a:pPr algn="l"/>
            <a:r>
              <a:rPr lang="en-IN" dirty="0"/>
              <a:t>Key Recommendations</a:t>
            </a:r>
          </a:p>
        </p:txBody>
      </p:sp>
      <p:sp>
        <p:nvSpPr>
          <p:cNvPr id="3" name="Subtitle 2">
            <a:extLst>
              <a:ext uri="{FF2B5EF4-FFF2-40B4-BE49-F238E27FC236}">
                <a16:creationId xmlns:a16="http://schemas.microsoft.com/office/drawing/2014/main" id="{09C41B06-5B27-29FE-5109-12E13EDEBCAD}"/>
              </a:ext>
            </a:extLst>
          </p:cNvPr>
          <p:cNvSpPr>
            <a:spLocks noGrp="1"/>
          </p:cNvSpPr>
          <p:nvPr>
            <p:ph type="subTitle" idx="1"/>
          </p:nvPr>
        </p:nvSpPr>
        <p:spPr>
          <a:xfrm>
            <a:off x="511278" y="2300747"/>
            <a:ext cx="8681884" cy="4178711"/>
          </a:xfrm>
        </p:spPr>
        <p:txBody>
          <a:bodyPr>
            <a:normAutofit/>
          </a:bodyPr>
          <a:lstStyle/>
          <a:p>
            <a:pPr algn="l"/>
            <a:r>
              <a:rPr lang="en-IN" dirty="0">
                <a:solidFill>
                  <a:schemeClr val="tx2">
                    <a:lumMod val="50000"/>
                  </a:schemeClr>
                </a:solidFill>
              </a:rPr>
              <a:t>Adapt a Hybrid Approach: Use Fundamental Analysis to find what to buy and Technical Analysis to find when to buy</a:t>
            </a:r>
          </a:p>
          <a:p>
            <a:pPr algn="l"/>
            <a:endParaRPr lang="en-IN" dirty="0">
              <a:solidFill>
                <a:schemeClr val="tx2">
                  <a:lumMod val="50000"/>
                </a:schemeClr>
              </a:solidFill>
            </a:endParaRPr>
          </a:p>
          <a:p>
            <a:pPr algn="l"/>
            <a:r>
              <a:rPr lang="en-IN" dirty="0">
                <a:solidFill>
                  <a:schemeClr val="tx2">
                    <a:lumMod val="50000"/>
                  </a:schemeClr>
                </a:solidFill>
              </a:rPr>
              <a:t>Prioritize Risk Management : Define your maximum loss before you enter a trade. Use stop loss orders </a:t>
            </a:r>
          </a:p>
          <a:p>
            <a:pPr algn="l"/>
            <a:endParaRPr lang="en-IN" dirty="0">
              <a:solidFill>
                <a:schemeClr val="tx2">
                  <a:lumMod val="50000"/>
                </a:schemeClr>
              </a:solidFill>
            </a:endParaRPr>
          </a:p>
          <a:p>
            <a:pPr algn="l"/>
            <a:r>
              <a:rPr lang="en-IN" dirty="0">
                <a:solidFill>
                  <a:schemeClr val="tx2">
                    <a:lumMod val="50000"/>
                  </a:schemeClr>
                </a:solidFill>
              </a:rPr>
              <a:t>Manage Sector Exposure : Be aware of the economic cycle and rotate capital from peaking sectors to emerging ones.</a:t>
            </a:r>
          </a:p>
          <a:p>
            <a:pPr algn="l"/>
            <a:endParaRPr lang="en-IN" dirty="0">
              <a:solidFill>
                <a:schemeClr val="tx2">
                  <a:lumMod val="50000"/>
                </a:schemeClr>
              </a:solidFill>
            </a:endParaRPr>
          </a:p>
          <a:p>
            <a:pPr algn="l"/>
            <a:r>
              <a:rPr lang="en-IN" dirty="0">
                <a:solidFill>
                  <a:schemeClr val="tx2">
                    <a:lumMod val="50000"/>
                  </a:schemeClr>
                </a:solidFill>
              </a:rPr>
              <a:t>Allocate to secure Trends :Invest in long-term, irreversible trends like AI Decarbonization</a:t>
            </a:r>
          </a:p>
          <a:p>
            <a:pPr algn="l"/>
            <a:endParaRPr lang="en-IN" dirty="0">
              <a:solidFill>
                <a:schemeClr val="tx2">
                  <a:lumMod val="50000"/>
                </a:schemeClr>
              </a:solidFill>
            </a:endParaRPr>
          </a:p>
          <a:p>
            <a:pPr algn="l"/>
            <a:endParaRPr lang="en-IN" dirty="0"/>
          </a:p>
        </p:txBody>
      </p:sp>
    </p:spTree>
    <p:extLst>
      <p:ext uri="{BB962C8B-B14F-4D97-AF65-F5344CB8AC3E}">
        <p14:creationId xmlns:p14="http://schemas.microsoft.com/office/powerpoint/2010/main" val="1164224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C4682-93F7-107A-4C2E-6C0F827E2223}"/>
              </a:ext>
            </a:extLst>
          </p:cNvPr>
          <p:cNvSpPr>
            <a:spLocks noGrp="1"/>
          </p:cNvSpPr>
          <p:nvPr>
            <p:ph type="title"/>
          </p:nvPr>
        </p:nvSpPr>
        <p:spPr>
          <a:xfrm>
            <a:off x="677334" y="1936955"/>
            <a:ext cx="8596668" cy="3146321"/>
          </a:xfrm>
        </p:spPr>
        <p:txBody>
          <a:bodyPr>
            <a:normAutofit/>
          </a:bodyPr>
          <a:lstStyle/>
          <a:p>
            <a:pPr algn="ctr"/>
            <a:r>
              <a:rPr lang="en-IN" sz="7200" dirty="0"/>
              <a:t>THANK YOU</a:t>
            </a:r>
          </a:p>
        </p:txBody>
      </p:sp>
    </p:spTree>
    <p:extLst>
      <p:ext uri="{BB962C8B-B14F-4D97-AF65-F5344CB8AC3E}">
        <p14:creationId xmlns:p14="http://schemas.microsoft.com/office/powerpoint/2010/main" val="8399137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145</TotalTime>
  <Words>2002</Words>
  <Application>Microsoft Office PowerPoint</Application>
  <PresentationFormat>Widescreen</PresentationFormat>
  <Paragraphs>194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Crimson Pro Semi Bold</vt:lpstr>
      <vt:lpstr>Heebo</vt:lpstr>
      <vt:lpstr>Trebuchet MS</vt:lpstr>
      <vt:lpstr>Wingdings 3</vt:lpstr>
      <vt:lpstr>Facet</vt:lpstr>
      <vt:lpstr>PowerPoint Presentation</vt:lpstr>
      <vt:lpstr>STOCK MARKET TREND ANALYSIS USING MACHINE LEARING</vt:lpstr>
      <vt:lpstr>The accurate forecasting of stock market movements remains a critical challenge for investors due to high volatility and the presence of numerous interacting financial, economic, and psychological factors. This study aims to analyze and evaluate the efficacy of classical technical indicators in identifying short-term trends within the S&amp;P 500 index over a five-year period (January 2020 – December 2024). The methodology involved collecting daily price and volume data and systematically applying three key technical analysis tools: the Moving Average Convergence Divergence (MACD), Relative Strength Index (RSI), and Bollinger Bands. Trading signals generated by these indicators were back-tested against a simple buy-and-hold strategy. Key findings indicate that a combined strategy utilizing MACD crossover signals for trend direction and RSI for overbought/oversold confirmation generated an annualized return of X%, which outperformed the benchmark S&amp;P 500 return of Y% with a lower maximum drawdown. </vt:lpstr>
      <vt:lpstr>What is Stock Market Trend</vt:lpstr>
      <vt:lpstr>Trend Classification by Duration</vt:lpstr>
      <vt:lpstr>Why Analyse Trends</vt:lpstr>
      <vt:lpstr>Core Analysis Methodologies</vt:lpstr>
      <vt:lpstr>1. Fundamental Analysis</vt:lpstr>
      <vt:lpstr>2.Technical Analysis</vt:lpstr>
      <vt:lpstr>Linear Regression in Machine Learning</vt:lpstr>
      <vt:lpstr>PowerPoint Presentation</vt:lpstr>
      <vt:lpstr>PowerPoint Presentation</vt:lpstr>
      <vt:lpstr>PowerPoint Presentation</vt:lpstr>
      <vt:lpstr>PowerPoint Presentation</vt:lpstr>
      <vt:lpstr>PowerPoint Presentation</vt:lpstr>
      <vt:lpstr>PowerPoint Presentation</vt:lpstr>
      <vt:lpstr>Key Technical Indicators</vt:lpstr>
      <vt:lpstr>Indicator: Moving Averages(MAs) </vt:lpstr>
      <vt:lpstr>Indicators: Momemtum Oscillators</vt:lpstr>
      <vt:lpstr>Economic Factors </vt:lpstr>
      <vt:lpstr>Economic Drivers: Rates and Inflation</vt:lpstr>
      <vt:lpstr>Sector Rotation: The Cyclical Flow </vt:lpstr>
      <vt:lpstr>The Physology of Trends </vt:lpstr>
      <vt:lpstr>Risk Management in Trend Analysis</vt:lpstr>
      <vt:lpstr>Key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SHASHANK GOWDA</dc:creator>
  <cp:lastModifiedBy>TEJAS HG</cp:lastModifiedBy>
  <cp:revision>3</cp:revision>
  <dcterms:created xsi:type="dcterms:W3CDTF">2025-11-17T02:57:29Z</dcterms:created>
  <dcterms:modified xsi:type="dcterms:W3CDTF">2025-12-23T07:20:06Z</dcterms:modified>
</cp:coreProperties>
</file>